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BM Plex Sans" charset="1" panose="020B0503050203000203"/>
      <p:regular r:id="rId21"/>
    </p:embeddedFont>
    <p:embeddedFont>
      <p:font typeface="Inter Bold" charset="1" panose="02000503000000020004"/>
      <p:regular r:id="rId22"/>
    </p:embeddedFont>
    <p:embeddedFont>
      <p:font typeface="Inter" charset="1" panose="02000503000000020004"/>
      <p:regular r:id="rId23"/>
    </p:embeddedFont>
    <p:embeddedFont>
      <p:font typeface="Inter Italics" charset="1" panose="02000503000000020004"/>
      <p:regular r:id="rId29"/>
    </p:embeddedFont>
    <p:embeddedFont>
      <p:font typeface="Canva Sans Bold" charset="1" panose="020B08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Today, we are presenting RentSphere, a peer-to-peer asset rental and micro-storage management system developed for our Object-Oriented Technology lab project.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idea behind RentSphere is that some people have assets or storage spaces that they are not using, while other people need them temporarily.</a:t>
            </a:r>
          </a:p>
          <a:p>
            <a:r>
              <a:rPr lang="en-US"/>
              <a:t>For example, someone might need a camera for a day but may not want to buy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several challenges in the rental process. It can be difficult to find suitable items, check their availability, and track bookings manually.</a:t>
            </a:r>
          </a:p>
          <a:p>
            <a:r>
              <a:rPr lang="en-US"/>
              <a:t>Manual tracking can also cause confusion about reservations, returns, and inspections.</a:t>
            </a:r>
          </a:p>
          <a:p>
            <a:r>
              <a:rPr lang="en-US"/>
              <a:t>Our objectives are to organize assets and storage spaces, track availability, manage reservations, and use Java object-oriented programming to structure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RentSphere focuses on five main features: asset listing, availability management, reservations, rental lifecycle, and micro-storage. Users can browse and select items before making a reservation. After renting, the item is returned and inspected. These steps create an organized rental workflow.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compares RentSphere with platforms such as OLX, SharePal, and StoreSpace. These platforms focus on different areas, such as classified listings, product rentals, or storage services. RentSphere aims to combine asset rentals and micro-storage management. Our key idea is structured rental lifecycle tracking.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RentSphere could generate revenue through several methods. These include rental commissions, storage fees, promoted listings, and optional verification charges. For example, a hypothetical 10% commission on a ₹1,000 rental would be ₹100. This is an illustration of the proposed business model, not actual revenue.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system has four layers: presentation, application, business logic, and data. The frontend uses HTML, CSS, and JavaScript, while the backend uses Java. We use ConcurrentHashMap for in-memory data and flat files for persistent storage. Flat files simplify our prototype, while an SQL database is a possible future improvement.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screen shows the RentSphere marketplace interface. Users can browse available equipment and select an item they want to rent. The system can check availability before a reservation. This is the first stage of our rental workflow.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screen shows an 8×8 matrix representing pickup or storage slots. It provides a structured way to visualize different locations. Such an arrangement can help organize storage allocation. It demonstrates RentSphere's micro-storage concept.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screen demonstrates post-return inspection, escrow concepts, and the audit ledger. Inspection helps check an item's condition after it is returned. Escrow refers to holding payment until agreed conditions are met. The audit ledger helps record important rental operations.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RentSphere aims to make asset rental and micro-storage management more organized. Java OOP helps structure the assets and rental operations. Future improvements could include an SQL database, real payment integration, and a mobile application. We could also add multiple hubs and identity verification.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16628307" y="9846183"/>
            <a:ext cx="1609020" cy="384353"/>
            <a:chOff x="0" y="0"/>
            <a:chExt cx="2145360" cy="512470"/>
          </a:xfrm>
        </p:grpSpPr>
        <p:sp>
          <p:nvSpPr>
            <p:cNvPr name="Freeform 3" id="3"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grpSp>
        <p:nvGrpSpPr>
          <p:cNvPr name="Group 4" id="4"/>
          <p:cNvGrpSpPr/>
          <p:nvPr/>
        </p:nvGrpSpPr>
        <p:grpSpPr>
          <a:xfrm rot="0">
            <a:off x="0" y="148167"/>
            <a:ext cx="10371039" cy="10295039"/>
            <a:chOff x="0" y="0"/>
            <a:chExt cx="13828052" cy="13726719"/>
          </a:xfrm>
        </p:grpSpPr>
        <p:sp>
          <p:nvSpPr>
            <p:cNvPr name="Freeform 5" id="5"/>
            <p:cNvSpPr/>
            <p:nvPr/>
          </p:nvSpPr>
          <p:spPr>
            <a:xfrm flipH="false" flipV="false" rot="0">
              <a:off x="0" y="0"/>
              <a:ext cx="13828013" cy="13726668"/>
            </a:xfrm>
            <a:custGeom>
              <a:avLst/>
              <a:gdLst/>
              <a:ahLst/>
              <a:cxnLst/>
              <a:rect r="r" b="b" t="t" l="l"/>
              <a:pathLst>
                <a:path h="13726668" w="13828013">
                  <a:moveTo>
                    <a:pt x="0" y="0"/>
                  </a:moveTo>
                  <a:lnTo>
                    <a:pt x="13828013" y="0"/>
                  </a:lnTo>
                  <a:lnTo>
                    <a:pt x="13828013" y="13726668"/>
                  </a:lnTo>
                  <a:lnTo>
                    <a:pt x="0" y="13726668"/>
                  </a:lnTo>
                  <a:close/>
                </a:path>
              </a:pathLst>
            </a:custGeom>
            <a:solidFill>
              <a:srgbClr val="083C35"/>
            </a:solidFill>
          </p:spPr>
        </p:sp>
      </p:grpSp>
      <p:grpSp>
        <p:nvGrpSpPr>
          <p:cNvPr name="Group 6" id="6"/>
          <p:cNvGrpSpPr/>
          <p:nvPr/>
        </p:nvGrpSpPr>
        <p:grpSpPr>
          <a:xfrm rot="0">
            <a:off x="915095" y="915114"/>
            <a:ext cx="3960781" cy="515645"/>
            <a:chOff x="0" y="0"/>
            <a:chExt cx="5281041" cy="687527"/>
          </a:xfrm>
        </p:grpSpPr>
        <p:sp>
          <p:nvSpPr>
            <p:cNvPr name="Freeform 7" id="7"/>
            <p:cNvSpPr/>
            <p:nvPr/>
          </p:nvSpPr>
          <p:spPr>
            <a:xfrm flipH="false" flipV="false" rot="0">
              <a:off x="0" y="0"/>
              <a:ext cx="5281041" cy="687451"/>
            </a:xfrm>
            <a:custGeom>
              <a:avLst/>
              <a:gdLst/>
              <a:ahLst/>
              <a:cxnLst/>
              <a:rect r="r" b="b" t="t" l="l"/>
              <a:pathLst>
                <a:path h="687451" w="5281041">
                  <a:moveTo>
                    <a:pt x="0" y="145161"/>
                  </a:moveTo>
                  <a:cubicBezTo>
                    <a:pt x="0" y="65024"/>
                    <a:pt x="65024" y="0"/>
                    <a:pt x="145161" y="0"/>
                  </a:cubicBezTo>
                  <a:lnTo>
                    <a:pt x="5135880" y="0"/>
                  </a:lnTo>
                  <a:cubicBezTo>
                    <a:pt x="5216017" y="0"/>
                    <a:pt x="5281041" y="65024"/>
                    <a:pt x="5281041" y="145161"/>
                  </a:cubicBezTo>
                  <a:lnTo>
                    <a:pt x="5281041" y="542290"/>
                  </a:lnTo>
                  <a:cubicBezTo>
                    <a:pt x="5281041" y="622427"/>
                    <a:pt x="5216017" y="687451"/>
                    <a:pt x="5135880" y="687451"/>
                  </a:cubicBezTo>
                  <a:lnTo>
                    <a:pt x="145161" y="687451"/>
                  </a:lnTo>
                  <a:cubicBezTo>
                    <a:pt x="65024" y="687578"/>
                    <a:pt x="0" y="622554"/>
                    <a:pt x="0" y="542290"/>
                  </a:cubicBezTo>
                  <a:close/>
                </a:path>
              </a:pathLst>
            </a:custGeom>
            <a:solidFill>
              <a:srgbClr val="D2F9F4"/>
            </a:solidFill>
          </p:spPr>
        </p:sp>
      </p:grpSp>
      <p:sp>
        <p:nvSpPr>
          <p:cNvPr name="TextBox 8" id="8"/>
          <p:cNvSpPr txBox="true"/>
          <p:nvPr/>
        </p:nvSpPr>
        <p:spPr>
          <a:xfrm rot="0">
            <a:off x="1109462" y="1012888"/>
            <a:ext cx="4487142"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ACADEMIC YEAR 2026–2027</a:t>
            </a:r>
          </a:p>
        </p:txBody>
      </p:sp>
      <p:sp>
        <p:nvSpPr>
          <p:cNvPr name="TextBox 9" id="9"/>
          <p:cNvSpPr txBox="true"/>
          <p:nvPr/>
        </p:nvSpPr>
        <p:spPr>
          <a:xfrm rot="0">
            <a:off x="915095" y="1896942"/>
            <a:ext cx="8769629" cy="803329"/>
          </a:xfrm>
          <a:prstGeom prst="rect">
            <a:avLst/>
          </a:prstGeom>
        </p:spPr>
        <p:txBody>
          <a:bodyPr anchor="t" rtlCol="false" tIns="0" lIns="0" bIns="0" rIns="0">
            <a:spAutoFit/>
          </a:bodyPr>
          <a:lstStyle/>
          <a:p>
            <a:pPr algn="l">
              <a:lnSpc>
                <a:spcPts val="6975"/>
              </a:lnSpc>
            </a:pPr>
            <a:r>
              <a:rPr lang="en-US" b="true" sz="6605" spc="-132">
                <a:solidFill>
                  <a:srgbClr val="FFFFFF"/>
                </a:solidFill>
                <a:latin typeface="Inter Bold"/>
                <a:ea typeface="Inter Bold"/>
                <a:cs typeface="Inter Bold"/>
                <a:sym typeface="Inter Bold"/>
              </a:rPr>
              <a:t>RentSphere</a:t>
            </a:r>
          </a:p>
        </p:txBody>
      </p:sp>
      <p:sp>
        <p:nvSpPr>
          <p:cNvPr name="TextBox 10" id="10"/>
          <p:cNvSpPr txBox="true"/>
          <p:nvPr/>
        </p:nvSpPr>
        <p:spPr>
          <a:xfrm rot="0">
            <a:off x="915095" y="2947740"/>
            <a:ext cx="8769629" cy="934450"/>
          </a:xfrm>
          <a:prstGeom prst="rect">
            <a:avLst/>
          </a:prstGeom>
        </p:spPr>
        <p:txBody>
          <a:bodyPr anchor="t" rtlCol="false" tIns="0" lIns="0" bIns="0" rIns="0">
            <a:spAutoFit/>
          </a:bodyPr>
          <a:lstStyle/>
          <a:p>
            <a:pPr algn="l">
              <a:lnSpc>
                <a:spcPts val="3566"/>
              </a:lnSpc>
            </a:pPr>
            <a:r>
              <a:rPr lang="en-US" sz="2702">
                <a:solidFill>
                  <a:srgbClr val="FFFFFF"/>
                </a:solidFill>
                <a:latin typeface="Inter"/>
                <a:ea typeface="Inter"/>
                <a:cs typeface="Inter"/>
                <a:sym typeface="Inter"/>
              </a:rPr>
              <a:t>Peer-to-Peer Asset Rental &amp; Micro-Storage Management System</a:t>
            </a:r>
          </a:p>
        </p:txBody>
      </p:sp>
      <p:sp>
        <p:nvSpPr>
          <p:cNvPr name="TextBox 11" id="11"/>
          <p:cNvSpPr txBox="true"/>
          <p:nvPr/>
        </p:nvSpPr>
        <p:spPr>
          <a:xfrm rot="0">
            <a:off x="915095" y="4140727"/>
            <a:ext cx="9455953" cy="295789"/>
          </a:xfrm>
          <a:prstGeom prst="rect">
            <a:avLst/>
          </a:prstGeom>
        </p:spPr>
        <p:txBody>
          <a:bodyPr anchor="t" rtlCol="false" tIns="0" lIns="0" bIns="0" rIns="0">
            <a:spAutoFit/>
          </a:bodyPr>
          <a:lstStyle/>
          <a:p>
            <a:pPr algn="l">
              <a:lnSpc>
                <a:spcPts val="2179"/>
              </a:lnSpc>
            </a:pPr>
            <a:r>
              <a:rPr lang="en-US" sz="1651">
                <a:solidFill>
                  <a:srgbClr val="FFFFFF"/>
                </a:solidFill>
                <a:latin typeface="IBM Plex Sans"/>
                <a:ea typeface="IBM Plex Sans"/>
                <a:cs typeface="IBM Plex Sans"/>
                <a:sym typeface="IBM Plex Sans"/>
              </a:rPr>
              <a:t>Object-Oriented Technology Lab Project</a:t>
            </a:r>
          </a:p>
        </p:txBody>
      </p:sp>
      <p:grpSp>
        <p:nvGrpSpPr>
          <p:cNvPr name="Group 12" id="12"/>
          <p:cNvGrpSpPr/>
          <p:nvPr/>
        </p:nvGrpSpPr>
        <p:grpSpPr>
          <a:xfrm rot="0">
            <a:off x="910323" y="8154168"/>
            <a:ext cx="8779164" cy="1948962"/>
            <a:chOff x="0" y="0"/>
            <a:chExt cx="11705552" cy="2598616"/>
          </a:xfrm>
        </p:grpSpPr>
        <p:sp>
          <p:nvSpPr>
            <p:cNvPr name="Freeform 13" id="13"/>
            <p:cNvSpPr/>
            <p:nvPr/>
          </p:nvSpPr>
          <p:spPr>
            <a:xfrm flipH="false" flipV="false" rot="0">
              <a:off x="0" y="0"/>
              <a:ext cx="11705590" cy="2598628"/>
            </a:xfrm>
            <a:custGeom>
              <a:avLst/>
              <a:gdLst/>
              <a:ahLst/>
              <a:cxnLst/>
              <a:rect r="r" b="b" t="t" l="l"/>
              <a:pathLst>
                <a:path h="2598628" w="11705590">
                  <a:moveTo>
                    <a:pt x="0" y="579204"/>
                  </a:moveTo>
                  <a:cubicBezTo>
                    <a:pt x="0" y="259230"/>
                    <a:pt x="192405" y="0"/>
                    <a:pt x="429895" y="0"/>
                  </a:cubicBezTo>
                  <a:lnTo>
                    <a:pt x="11275695" y="0"/>
                  </a:lnTo>
                  <a:cubicBezTo>
                    <a:pt x="11513058" y="0"/>
                    <a:pt x="11705590" y="259230"/>
                    <a:pt x="11705590" y="579204"/>
                  </a:cubicBezTo>
                  <a:lnTo>
                    <a:pt x="11705590" y="2019429"/>
                  </a:lnTo>
                  <a:cubicBezTo>
                    <a:pt x="11705590" y="2339231"/>
                    <a:pt x="11513185" y="2598628"/>
                    <a:pt x="11275695" y="2598628"/>
                  </a:cubicBezTo>
                  <a:lnTo>
                    <a:pt x="429895" y="2598628"/>
                  </a:lnTo>
                  <a:cubicBezTo>
                    <a:pt x="192405" y="2598628"/>
                    <a:pt x="0" y="2339232"/>
                    <a:pt x="0" y="2019429"/>
                  </a:cubicBezTo>
                  <a:close/>
                </a:path>
              </a:pathLst>
            </a:custGeom>
            <a:solidFill>
              <a:srgbClr val="FFFFFF"/>
            </a:solidFill>
            <a:ln w="9532" cap="sq">
              <a:solidFill>
                <a:srgbClr val="CBD4CE"/>
              </a:solidFill>
              <a:prstDash val="solid"/>
              <a:miter/>
            </a:ln>
          </p:spPr>
        </p:sp>
      </p:grpSp>
      <p:sp>
        <p:nvSpPr>
          <p:cNvPr name="TextBox 14" id="14"/>
          <p:cNvSpPr txBox="true"/>
          <p:nvPr/>
        </p:nvSpPr>
        <p:spPr>
          <a:xfrm rot="0">
            <a:off x="1229658" y="8209696"/>
            <a:ext cx="8140503" cy="17998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Team Members:</a:t>
            </a:r>
          </a:p>
          <a:p>
            <a:pPr algn="l">
              <a:lnSpc>
                <a:spcPts val="2900"/>
              </a:lnSpc>
            </a:pPr>
            <a:r>
              <a:rPr lang="en-US" sz="2101">
                <a:solidFill>
                  <a:srgbClr val="10201D"/>
                </a:solidFill>
                <a:latin typeface="Inter"/>
                <a:ea typeface="Inter"/>
                <a:cs typeface="Inter"/>
                <a:sym typeface="Inter"/>
              </a:rPr>
              <a:t>Mohammed Faaris Khan 2664 </a:t>
            </a:r>
          </a:p>
          <a:p>
            <a:pPr algn="l">
              <a:lnSpc>
                <a:spcPts val="2900"/>
              </a:lnSpc>
            </a:pPr>
            <a:r>
              <a:rPr lang="en-US" sz="2101">
                <a:solidFill>
                  <a:srgbClr val="10201D"/>
                </a:solidFill>
                <a:latin typeface="Inter"/>
                <a:ea typeface="Inter"/>
                <a:cs typeface="Inter"/>
                <a:sym typeface="Inter"/>
              </a:rPr>
              <a:t>Ketan Naik 2623</a:t>
            </a:r>
          </a:p>
          <a:p>
            <a:pPr algn="l">
              <a:lnSpc>
                <a:spcPts val="2900"/>
              </a:lnSpc>
            </a:pPr>
            <a:r>
              <a:rPr lang="en-US" sz="2101">
                <a:solidFill>
                  <a:srgbClr val="10201D"/>
                </a:solidFill>
                <a:latin typeface="Inter"/>
                <a:ea typeface="Inter"/>
                <a:cs typeface="Inter"/>
                <a:sym typeface="Inter"/>
              </a:rPr>
              <a:t>Nikhil baiju 2665 </a:t>
            </a:r>
          </a:p>
          <a:p>
            <a:pPr algn="l">
              <a:lnSpc>
                <a:spcPts val="2900"/>
              </a:lnSpc>
            </a:pPr>
            <a:r>
              <a:rPr lang="en-US" sz="2101">
                <a:solidFill>
                  <a:srgbClr val="10201D"/>
                </a:solidFill>
                <a:latin typeface="Inter"/>
                <a:ea typeface="Inter"/>
                <a:cs typeface="Inter"/>
                <a:sym typeface="Inter"/>
              </a:rPr>
              <a:t>Deepak Devan 2616</a:t>
            </a:r>
          </a:p>
        </p:txBody>
      </p:sp>
      <p:grpSp>
        <p:nvGrpSpPr>
          <p:cNvPr name="Group 15" id="15"/>
          <p:cNvGrpSpPr/>
          <p:nvPr/>
        </p:nvGrpSpPr>
        <p:grpSpPr>
          <a:xfrm rot="0">
            <a:off x="10371039" y="0"/>
            <a:ext cx="7930801" cy="10295039"/>
            <a:chOff x="0" y="0"/>
            <a:chExt cx="10574401" cy="13726719"/>
          </a:xfrm>
        </p:grpSpPr>
        <p:sp>
          <p:nvSpPr>
            <p:cNvPr name="Freeform 16" id="16" descr="preencoded.png"/>
            <p:cNvSpPr/>
            <p:nvPr/>
          </p:nvSpPr>
          <p:spPr>
            <a:xfrm flipH="false" flipV="false" rot="0">
              <a:off x="0" y="0"/>
              <a:ext cx="10574401" cy="13726668"/>
            </a:xfrm>
            <a:custGeom>
              <a:avLst/>
              <a:gdLst/>
              <a:ahLst/>
              <a:cxnLst/>
              <a:rect r="r" b="b" t="t" l="l"/>
              <a:pathLst>
                <a:path h="13726668" w="10574401">
                  <a:moveTo>
                    <a:pt x="0" y="0"/>
                  </a:moveTo>
                  <a:lnTo>
                    <a:pt x="10574401" y="0"/>
                  </a:lnTo>
                  <a:lnTo>
                    <a:pt x="10574401" y="13726668"/>
                  </a:lnTo>
                  <a:lnTo>
                    <a:pt x="0" y="13726668"/>
                  </a:lnTo>
                  <a:lnTo>
                    <a:pt x="0" y="0"/>
                  </a:lnTo>
                  <a:close/>
                </a:path>
              </a:pathLst>
            </a:custGeom>
            <a:blipFill>
              <a:blip r:embed="rId5"/>
              <a:stretch>
                <a:fillRect l="-31" t="0" r="-31" b="0"/>
              </a:stretch>
            </a:blip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753046" y="7790240"/>
            <a:ext cx="8178632" cy="1980514"/>
            <a:chOff x="0" y="0"/>
            <a:chExt cx="10904842" cy="2640686"/>
          </a:xfrm>
        </p:grpSpPr>
        <p:sp>
          <p:nvSpPr>
            <p:cNvPr name="Freeform 3" id="3"/>
            <p:cNvSpPr/>
            <p:nvPr/>
          </p:nvSpPr>
          <p:spPr>
            <a:xfrm flipH="false" flipV="false" rot="0">
              <a:off x="0" y="0"/>
              <a:ext cx="10904855" cy="2640711"/>
            </a:xfrm>
            <a:custGeom>
              <a:avLst/>
              <a:gdLst/>
              <a:ahLst/>
              <a:cxnLst/>
              <a:rect r="r" b="b" t="t" l="l"/>
              <a:pathLst>
                <a:path h="2640711" w="10904855">
                  <a:moveTo>
                    <a:pt x="0" y="431165"/>
                  </a:moveTo>
                  <a:cubicBezTo>
                    <a:pt x="0" y="193040"/>
                    <a:pt x="193040" y="0"/>
                    <a:pt x="431165" y="0"/>
                  </a:cubicBezTo>
                  <a:lnTo>
                    <a:pt x="10473690" y="0"/>
                  </a:lnTo>
                  <a:cubicBezTo>
                    <a:pt x="10711815" y="0"/>
                    <a:pt x="10904855" y="193040"/>
                    <a:pt x="10904855" y="431165"/>
                  </a:cubicBezTo>
                  <a:lnTo>
                    <a:pt x="10904855" y="2209546"/>
                  </a:lnTo>
                  <a:cubicBezTo>
                    <a:pt x="10904855" y="2447671"/>
                    <a:pt x="10711815" y="2640711"/>
                    <a:pt x="10473690" y="2640711"/>
                  </a:cubicBezTo>
                  <a:lnTo>
                    <a:pt x="431165" y="2640711"/>
                  </a:lnTo>
                  <a:cubicBezTo>
                    <a:pt x="193040" y="2640711"/>
                    <a:pt x="0" y="2447671"/>
                    <a:pt x="0" y="2209546"/>
                  </a:cubicBezTo>
                  <a:close/>
                </a:path>
              </a:pathLst>
            </a:custGeom>
            <a:solidFill>
              <a:srgbClr val="FFFFFF"/>
            </a:solidFill>
            <a:ln w="19065" cap="sq">
              <a:solidFill>
                <a:srgbClr val="CBD4CE"/>
              </a:solidFill>
              <a:prstDash val="solid"/>
              <a:miter/>
            </a:ln>
          </p:spPr>
        </p:sp>
      </p:grpSp>
      <p:grpSp>
        <p:nvGrpSpPr>
          <p:cNvPr name="Group 4" id="4"/>
          <p:cNvGrpSpPr/>
          <p:nvPr/>
        </p:nvGrpSpPr>
        <p:grpSpPr>
          <a:xfrm rot="0">
            <a:off x="9370162" y="7790240"/>
            <a:ext cx="8178632" cy="1980514"/>
            <a:chOff x="0" y="0"/>
            <a:chExt cx="10904842" cy="2640686"/>
          </a:xfrm>
        </p:grpSpPr>
        <p:sp>
          <p:nvSpPr>
            <p:cNvPr name="Freeform 5" id="5"/>
            <p:cNvSpPr/>
            <p:nvPr/>
          </p:nvSpPr>
          <p:spPr>
            <a:xfrm flipH="false" flipV="false" rot="0">
              <a:off x="0" y="0"/>
              <a:ext cx="10904855" cy="2640711"/>
            </a:xfrm>
            <a:custGeom>
              <a:avLst/>
              <a:gdLst/>
              <a:ahLst/>
              <a:cxnLst/>
              <a:rect r="r" b="b" t="t" l="l"/>
              <a:pathLst>
                <a:path h="2640711" w="10904855">
                  <a:moveTo>
                    <a:pt x="0" y="431165"/>
                  </a:moveTo>
                  <a:cubicBezTo>
                    <a:pt x="0" y="193040"/>
                    <a:pt x="193040" y="0"/>
                    <a:pt x="431165" y="0"/>
                  </a:cubicBezTo>
                  <a:lnTo>
                    <a:pt x="10473690" y="0"/>
                  </a:lnTo>
                  <a:cubicBezTo>
                    <a:pt x="10711815" y="0"/>
                    <a:pt x="10904855" y="193040"/>
                    <a:pt x="10904855" y="431165"/>
                  </a:cubicBezTo>
                  <a:lnTo>
                    <a:pt x="10904855" y="2209546"/>
                  </a:lnTo>
                  <a:cubicBezTo>
                    <a:pt x="10904855" y="2447671"/>
                    <a:pt x="10711815" y="2640711"/>
                    <a:pt x="10473690" y="2640711"/>
                  </a:cubicBezTo>
                  <a:lnTo>
                    <a:pt x="431165" y="2640711"/>
                  </a:lnTo>
                  <a:cubicBezTo>
                    <a:pt x="193040" y="2640711"/>
                    <a:pt x="0" y="2447671"/>
                    <a:pt x="0" y="2209546"/>
                  </a:cubicBezTo>
                  <a:close/>
                </a:path>
              </a:pathLst>
            </a:custGeom>
            <a:solidFill>
              <a:srgbClr val="FFFFFF"/>
            </a:solidFill>
            <a:ln w="19065" cap="sq">
              <a:solidFill>
                <a:srgbClr val="CBD4CE"/>
              </a:solidFill>
              <a:prstDash val="solid"/>
              <a:miter/>
            </a:ln>
          </p:spPr>
        </p:sp>
      </p:grpSp>
      <p:grpSp>
        <p:nvGrpSpPr>
          <p:cNvPr name="Group 6" id="6"/>
          <p:cNvGrpSpPr/>
          <p:nvPr/>
        </p:nvGrpSpPr>
        <p:grpSpPr>
          <a:xfrm rot="0">
            <a:off x="2769175" y="3490912"/>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8" id="8"/>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762581" y="537924"/>
            <a:ext cx="1533471" cy="259150"/>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The beginning </a:t>
            </a:r>
          </a:p>
        </p:txBody>
      </p:sp>
      <p:sp>
        <p:nvSpPr>
          <p:cNvPr name="TextBox 10" id="10"/>
          <p:cNvSpPr txBox="true"/>
          <p:nvPr/>
        </p:nvSpPr>
        <p:spPr>
          <a:xfrm rot="0">
            <a:off x="762581" y="1976723"/>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Bridging idle capital and temporary utility through a single verified platform.</a:t>
            </a:r>
          </a:p>
        </p:txBody>
      </p:sp>
      <p:sp>
        <p:nvSpPr>
          <p:cNvPr name="TextBox 11" id="11"/>
          <p:cNvSpPr txBox="true"/>
          <p:nvPr/>
        </p:nvSpPr>
        <p:spPr>
          <a:xfrm rot="0">
            <a:off x="3418761" y="3662105"/>
            <a:ext cx="1779289" cy="79209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Idle Assets &amp; Storage</a:t>
            </a:r>
          </a:p>
        </p:txBody>
      </p:sp>
      <p:sp>
        <p:nvSpPr>
          <p:cNvPr name="TextBox 12" id="12"/>
          <p:cNvSpPr txBox="true"/>
          <p:nvPr/>
        </p:nvSpPr>
        <p:spPr>
          <a:xfrm rot="0">
            <a:off x="3422580" y="4686224"/>
            <a:ext cx="1779289" cy="1559052"/>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Underutilized personal goods and empty storage slots sit unused.</a:t>
            </a:r>
          </a:p>
        </p:txBody>
      </p:sp>
      <p:sp>
        <p:nvSpPr>
          <p:cNvPr name="TextBox 13" id="13"/>
          <p:cNvSpPr txBox="true"/>
          <p:nvPr/>
        </p:nvSpPr>
        <p:spPr>
          <a:xfrm rot="0">
            <a:off x="1086669" y="8027337"/>
            <a:ext cx="7511377"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Asset Rental Flow</a:t>
            </a:r>
          </a:p>
        </p:txBody>
      </p:sp>
      <p:sp>
        <p:nvSpPr>
          <p:cNvPr name="TextBox 14" id="14"/>
          <p:cNvSpPr txBox="true"/>
          <p:nvPr/>
        </p:nvSpPr>
        <p:spPr>
          <a:xfrm rot="0">
            <a:off x="1086669" y="8739759"/>
            <a:ext cx="751137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Asset Owner → RentSphere Engine → Verified Renter with explicit lease tracking.</a:t>
            </a:r>
          </a:p>
        </p:txBody>
      </p:sp>
      <p:sp>
        <p:nvSpPr>
          <p:cNvPr name="TextBox 15" id="15"/>
          <p:cNvSpPr txBox="true"/>
          <p:nvPr/>
        </p:nvSpPr>
        <p:spPr>
          <a:xfrm rot="0">
            <a:off x="9703784" y="8027337"/>
            <a:ext cx="7511377"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Micro-Storage Flow</a:t>
            </a:r>
          </a:p>
        </p:txBody>
      </p:sp>
      <p:sp>
        <p:nvSpPr>
          <p:cNvPr name="TextBox 16" id="16"/>
          <p:cNvSpPr txBox="true"/>
          <p:nvPr/>
        </p:nvSpPr>
        <p:spPr>
          <a:xfrm rot="0">
            <a:off x="9703784" y="8739759"/>
            <a:ext cx="751137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Space Owner → RentSphere Slot Allocator → Temporary Storage User.</a:t>
            </a:r>
          </a:p>
        </p:txBody>
      </p:sp>
      <p:grpSp>
        <p:nvGrpSpPr>
          <p:cNvPr name="Group 17" id="17"/>
          <p:cNvGrpSpPr/>
          <p:nvPr/>
        </p:nvGrpSpPr>
        <p:grpSpPr>
          <a:xfrm rot="0">
            <a:off x="7607875" y="3490912"/>
            <a:ext cx="3086100" cy="30861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20" id="20"/>
          <p:cNvSpPr txBox="true"/>
          <p:nvPr/>
        </p:nvSpPr>
        <p:spPr>
          <a:xfrm rot="0">
            <a:off x="8256394" y="3722675"/>
            <a:ext cx="1789062" cy="79209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RentSphere Core</a:t>
            </a:r>
          </a:p>
        </p:txBody>
      </p:sp>
      <p:sp>
        <p:nvSpPr>
          <p:cNvPr name="TextBox 21" id="21"/>
          <p:cNvSpPr txBox="true"/>
          <p:nvPr/>
        </p:nvSpPr>
        <p:spPr>
          <a:xfrm rot="0">
            <a:off x="8256394" y="4555588"/>
            <a:ext cx="1789062" cy="1873377"/>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Central platform coordinates listings, reservations, and state control.</a:t>
            </a:r>
          </a:p>
        </p:txBody>
      </p:sp>
      <p:grpSp>
        <p:nvGrpSpPr>
          <p:cNvPr name="Group 22" id="22"/>
          <p:cNvGrpSpPr/>
          <p:nvPr/>
        </p:nvGrpSpPr>
        <p:grpSpPr>
          <a:xfrm rot="0">
            <a:off x="11929848" y="3490912"/>
            <a:ext cx="3086100" cy="308610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25" id="25"/>
          <p:cNvSpPr txBox="true"/>
          <p:nvPr/>
        </p:nvSpPr>
        <p:spPr>
          <a:xfrm rot="0">
            <a:off x="12450802" y="3922700"/>
            <a:ext cx="2017352" cy="39204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Verified Utility</a:t>
            </a:r>
          </a:p>
        </p:txBody>
      </p:sp>
      <p:sp>
        <p:nvSpPr>
          <p:cNvPr name="TextBox 26" id="26"/>
          <p:cNvSpPr txBox="true"/>
          <p:nvPr/>
        </p:nvSpPr>
        <p:spPr>
          <a:xfrm rot="0">
            <a:off x="12569828" y="4830856"/>
            <a:ext cx="1779289" cy="1559052"/>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Renters gain affordable short-term access without full ownership.</a:t>
            </a:r>
          </a:p>
        </p:txBody>
      </p:sp>
      <p:sp>
        <p:nvSpPr>
          <p:cNvPr name="TextBox 27" id="27"/>
          <p:cNvSpPr txBox="true"/>
          <p:nvPr/>
        </p:nvSpPr>
        <p:spPr>
          <a:xfrm rot="0">
            <a:off x="543335" y="107057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Introducing RentSphere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686324" y="537924"/>
            <a:ext cx="17615525"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CHALLENGES &amp; OBJECTIVES</a:t>
            </a:r>
          </a:p>
        </p:txBody>
      </p:sp>
      <p:sp>
        <p:nvSpPr>
          <p:cNvPr name="TextBox 3" id="3"/>
          <p:cNvSpPr txBox="true"/>
          <p:nvPr/>
        </p:nvSpPr>
        <p:spPr>
          <a:xfrm rot="0">
            <a:off x="686324" y="1079887"/>
            <a:ext cx="16929202"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The Problem We Want to Solve</a:t>
            </a:r>
          </a:p>
        </p:txBody>
      </p:sp>
      <p:grpSp>
        <p:nvGrpSpPr>
          <p:cNvPr name="Group 4" id="4"/>
          <p:cNvGrpSpPr/>
          <p:nvPr/>
        </p:nvGrpSpPr>
        <p:grpSpPr>
          <a:xfrm rot="0">
            <a:off x="667255" y="1843040"/>
            <a:ext cx="8273958" cy="7937249"/>
            <a:chOff x="0" y="0"/>
            <a:chExt cx="11031944" cy="10582999"/>
          </a:xfrm>
        </p:grpSpPr>
        <p:sp>
          <p:nvSpPr>
            <p:cNvPr name="Freeform 5" id="5"/>
            <p:cNvSpPr/>
            <p:nvPr/>
          </p:nvSpPr>
          <p:spPr>
            <a:xfrm flipH="false" flipV="false" rot="0">
              <a:off x="0" y="0"/>
              <a:ext cx="11031982" cy="10583037"/>
            </a:xfrm>
            <a:custGeom>
              <a:avLst/>
              <a:gdLst/>
              <a:ahLst/>
              <a:cxnLst/>
              <a:rect r="r" b="b" t="t" l="l"/>
              <a:pathLst>
                <a:path h="10583037" w="11031982">
                  <a:moveTo>
                    <a:pt x="0" y="182372"/>
                  </a:moveTo>
                  <a:cubicBezTo>
                    <a:pt x="0" y="81661"/>
                    <a:pt x="81661" y="0"/>
                    <a:pt x="182372" y="0"/>
                  </a:cubicBezTo>
                  <a:lnTo>
                    <a:pt x="10849610" y="0"/>
                  </a:lnTo>
                  <a:cubicBezTo>
                    <a:pt x="10950321" y="0"/>
                    <a:pt x="11031982" y="81661"/>
                    <a:pt x="11031982" y="182372"/>
                  </a:cubicBezTo>
                  <a:lnTo>
                    <a:pt x="11031982" y="10400665"/>
                  </a:lnTo>
                  <a:cubicBezTo>
                    <a:pt x="11031982" y="10501376"/>
                    <a:pt x="10950321" y="10583037"/>
                    <a:pt x="10849610" y="10583037"/>
                  </a:cubicBezTo>
                  <a:lnTo>
                    <a:pt x="182372" y="10583037"/>
                  </a:lnTo>
                  <a:cubicBezTo>
                    <a:pt x="81661" y="10583037"/>
                    <a:pt x="0" y="10501376"/>
                    <a:pt x="0" y="10400665"/>
                  </a:cubicBezTo>
                  <a:close/>
                </a:path>
              </a:pathLst>
            </a:custGeom>
            <a:solidFill>
              <a:srgbClr val="FFFFFF"/>
            </a:solidFill>
            <a:ln w="38128" cap="sq">
              <a:solidFill>
                <a:srgbClr val="CBCFC0"/>
              </a:solidFill>
              <a:prstDash val="solid"/>
              <a:miter/>
            </a:ln>
          </p:spPr>
        </p:sp>
      </p:grpSp>
      <p:grpSp>
        <p:nvGrpSpPr>
          <p:cNvPr name="Group 6" id="6"/>
          <p:cNvGrpSpPr/>
          <p:nvPr/>
        </p:nvGrpSpPr>
        <p:grpSpPr>
          <a:xfrm rot="0">
            <a:off x="1105738" y="4150042"/>
            <a:ext cx="4243768" cy="515645"/>
            <a:chOff x="0" y="0"/>
            <a:chExt cx="5658358" cy="687527"/>
          </a:xfrm>
        </p:grpSpPr>
        <p:sp>
          <p:nvSpPr>
            <p:cNvPr name="Freeform 7" id="7"/>
            <p:cNvSpPr/>
            <p:nvPr/>
          </p:nvSpPr>
          <p:spPr>
            <a:xfrm flipH="false" flipV="false" rot="0">
              <a:off x="0" y="0"/>
              <a:ext cx="5658358" cy="687451"/>
            </a:xfrm>
            <a:custGeom>
              <a:avLst/>
              <a:gdLst/>
              <a:ahLst/>
              <a:cxnLst/>
              <a:rect r="r" b="b" t="t" l="l"/>
              <a:pathLst>
                <a:path h="687451" w="5658358">
                  <a:moveTo>
                    <a:pt x="0" y="145161"/>
                  </a:moveTo>
                  <a:cubicBezTo>
                    <a:pt x="0" y="65024"/>
                    <a:pt x="65024" y="0"/>
                    <a:pt x="145161" y="0"/>
                  </a:cubicBezTo>
                  <a:lnTo>
                    <a:pt x="5513197" y="0"/>
                  </a:lnTo>
                  <a:cubicBezTo>
                    <a:pt x="5593334" y="0"/>
                    <a:pt x="5658358" y="65024"/>
                    <a:pt x="5658358" y="145161"/>
                  </a:cubicBezTo>
                  <a:lnTo>
                    <a:pt x="5658358" y="542290"/>
                  </a:lnTo>
                  <a:cubicBezTo>
                    <a:pt x="5658358" y="622427"/>
                    <a:pt x="5593334" y="687451"/>
                    <a:pt x="5513197" y="687451"/>
                  </a:cubicBezTo>
                  <a:lnTo>
                    <a:pt x="145161" y="687451"/>
                  </a:lnTo>
                  <a:cubicBezTo>
                    <a:pt x="65024" y="687578"/>
                    <a:pt x="0" y="622554"/>
                    <a:pt x="0" y="542290"/>
                  </a:cubicBezTo>
                  <a:close/>
                </a:path>
              </a:pathLst>
            </a:custGeom>
            <a:solidFill>
              <a:srgbClr val="D2F9F4"/>
            </a:solidFill>
          </p:spPr>
        </p:sp>
      </p:grpSp>
      <p:sp>
        <p:nvSpPr>
          <p:cNvPr name="TextBox 8" id="8"/>
          <p:cNvSpPr txBox="true"/>
          <p:nvPr/>
        </p:nvSpPr>
        <p:spPr>
          <a:xfrm rot="0">
            <a:off x="1300105" y="4247817"/>
            <a:ext cx="4770130"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Current Operational Challenges</a:t>
            </a:r>
          </a:p>
        </p:txBody>
      </p:sp>
      <p:sp>
        <p:nvSpPr>
          <p:cNvPr name="TextBox 9" id="9"/>
          <p:cNvSpPr txBox="true"/>
          <p:nvPr/>
        </p:nvSpPr>
        <p:spPr>
          <a:xfrm rot="0">
            <a:off x="1105738" y="4808706"/>
            <a:ext cx="7396991" cy="2664581"/>
          </a:xfrm>
          <a:prstGeom prst="rect">
            <a:avLst/>
          </a:prstGeom>
        </p:spPr>
        <p:txBody>
          <a:bodyPr anchor="t" rtlCol="false" tIns="0" lIns="0" bIns="0" rIns="0">
            <a:spAutoFit/>
          </a:bodyPr>
          <a:lstStyle/>
          <a:p>
            <a:pPr algn="l" marL="462207" indent="-231104" lvl="1">
              <a:lnSpc>
                <a:spcPts val="3521"/>
              </a:lnSpc>
              <a:buFont typeface="Arial"/>
              <a:buChar char="•"/>
            </a:pPr>
            <a:r>
              <a:rPr lang="en-US" sz="2551">
                <a:solidFill>
                  <a:srgbClr val="10201D"/>
                </a:solidFill>
                <a:latin typeface="Inter"/>
                <a:ea typeface="Inter"/>
                <a:cs typeface="Inter"/>
                <a:sym typeface="Inter"/>
              </a:rPr>
              <a:t>Hard to discover suitable assets or storage.</a:t>
            </a:r>
          </a:p>
          <a:p>
            <a:pPr algn="l" marL="462207" indent="-231104" lvl="1">
              <a:lnSpc>
                <a:spcPts val="3521"/>
              </a:lnSpc>
              <a:buFont typeface="Arial"/>
              <a:buChar char="•"/>
            </a:pPr>
            <a:r>
              <a:rPr lang="en-US" sz="2551">
                <a:solidFill>
                  <a:srgbClr val="10201D"/>
                </a:solidFill>
                <a:latin typeface="Inter"/>
                <a:ea typeface="Inter"/>
                <a:cs typeface="Inter"/>
                <a:sym typeface="Inter"/>
              </a:rPr>
              <a:t>Unclear availability and rental status.</a:t>
            </a:r>
          </a:p>
          <a:p>
            <a:pPr algn="l" marL="462207" indent="-231104" lvl="1">
              <a:lnSpc>
                <a:spcPts val="3521"/>
              </a:lnSpc>
              <a:buFont typeface="Arial"/>
              <a:buChar char="•"/>
            </a:pPr>
            <a:r>
              <a:rPr lang="en-US" sz="2551">
                <a:solidFill>
                  <a:srgbClr val="10201D"/>
                </a:solidFill>
                <a:latin typeface="Inter"/>
                <a:ea typeface="Inter"/>
                <a:cs typeface="Inter"/>
                <a:sym typeface="Inter"/>
              </a:rPr>
              <a:t>Manual booking and contract tracking.</a:t>
            </a:r>
          </a:p>
          <a:p>
            <a:pPr algn="l" marL="462207" indent="-231104" lvl="1">
              <a:lnSpc>
                <a:spcPts val="3521"/>
              </a:lnSpc>
              <a:buFont typeface="Arial"/>
              <a:buChar char="•"/>
            </a:pPr>
            <a:r>
              <a:rPr lang="en-US" sz="2551">
                <a:solidFill>
                  <a:srgbClr val="10201D"/>
                </a:solidFill>
                <a:latin typeface="Inter"/>
                <a:ea typeface="Inter"/>
                <a:cs typeface="Inter"/>
                <a:sym typeface="Inter"/>
              </a:rPr>
              <a:t>Risk of inconsistent rental operations.</a:t>
            </a:r>
          </a:p>
          <a:p>
            <a:pPr algn="l" marL="462207" indent="-231104" lvl="1">
              <a:lnSpc>
                <a:spcPts val="3521"/>
              </a:lnSpc>
              <a:buFont typeface="Arial"/>
              <a:buChar char="•"/>
            </a:pPr>
            <a:r>
              <a:rPr lang="en-US" sz="2551">
                <a:solidFill>
                  <a:srgbClr val="10201D"/>
                </a:solidFill>
                <a:latin typeface="Inter"/>
                <a:ea typeface="Inter"/>
                <a:cs typeface="Inter"/>
                <a:sym typeface="Inter"/>
              </a:rPr>
              <a:t>Returns and inspections must be managed.</a:t>
            </a:r>
          </a:p>
        </p:txBody>
      </p:sp>
      <p:grpSp>
        <p:nvGrpSpPr>
          <p:cNvPr name="Group 10" id="10"/>
          <p:cNvGrpSpPr/>
          <p:nvPr/>
        </p:nvGrpSpPr>
        <p:grpSpPr>
          <a:xfrm rot="0">
            <a:off x="9360627" y="1843040"/>
            <a:ext cx="8273958" cy="7937249"/>
            <a:chOff x="0" y="0"/>
            <a:chExt cx="11031944" cy="10582999"/>
          </a:xfrm>
        </p:grpSpPr>
        <p:sp>
          <p:nvSpPr>
            <p:cNvPr name="Freeform 11" id="11"/>
            <p:cNvSpPr/>
            <p:nvPr/>
          </p:nvSpPr>
          <p:spPr>
            <a:xfrm flipH="false" flipV="false" rot="0">
              <a:off x="0" y="0"/>
              <a:ext cx="11031982" cy="10583037"/>
            </a:xfrm>
            <a:custGeom>
              <a:avLst/>
              <a:gdLst/>
              <a:ahLst/>
              <a:cxnLst/>
              <a:rect r="r" b="b" t="t" l="l"/>
              <a:pathLst>
                <a:path h="10583037" w="11031982">
                  <a:moveTo>
                    <a:pt x="0" y="182372"/>
                  </a:moveTo>
                  <a:cubicBezTo>
                    <a:pt x="0" y="81661"/>
                    <a:pt x="81661" y="0"/>
                    <a:pt x="182372" y="0"/>
                  </a:cubicBezTo>
                  <a:lnTo>
                    <a:pt x="10849610" y="0"/>
                  </a:lnTo>
                  <a:cubicBezTo>
                    <a:pt x="10950321" y="0"/>
                    <a:pt x="11031982" y="81661"/>
                    <a:pt x="11031982" y="182372"/>
                  </a:cubicBezTo>
                  <a:lnTo>
                    <a:pt x="11031982" y="10400665"/>
                  </a:lnTo>
                  <a:cubicBezTo>
                    <a:pt x="11031982" y="10501376"/>
                    <a:pt x="10950321" y="10583037"/>
                    <a:pt x="10849610" y="10583037"/>
                  </a:cubicBezTo>
                  <a:lnTo>
                    <a:pt x="182372" y="10583037"/>
                  </a:lnTo>
                  <a:cubicBezTo>
                    <a:pt x="81661" y="10583037"/>
                    <a:pt x="0" y="10501376"/>
                    <a:pt x="0" y="10400665"/>
                  </a:cubicBezTo>
                  <a:close/>
                </a:path>
              </a:pathLst>
            </a:custGeom>
            <a:solidFill>
              <a:srgbClr val="FFFFFF"/>
            </a:solidFill>
            <a:ln w="38128" cap="sq">
              <a:solidFill>
                <a:srgbClr val="CBCFC0"/>
              </a:solidFill>
              <a:prstDash val="solid"/>
              <a:miter/>
            </a:ln>
          </p:spPr>
        </p:sp>
      </p:grpSp>
      <p:grpSp>
        <p:nvGrpSpPr>
          <p:cNvPr name="Group 12" id="12"/>
          <p:cNvGrpSpPr/>
          <p:nvPr/>
        </p:nvGrpSpPr>
        <p:grpSpPr>
          <a:xfrm rot="0">
            <a:off x="9799110" y="3702910"/>
            <a:ext cx="3248692" cy="515645"/>
            <a:chOff x="0" y="0"/>
            <a:chExt cx="4331589" cy="687527"/>
          </a:xfrm>
        </p:grpSpPr>
        <p:sp>
          <p:nvSpPr>
            <p:cNvPr name="Freeform 13" id="13"/>
            <p:cNvSpPr/>
            <p:nvPr/>
          </p:nvSpPr>
          <p:spPr>
            <a:xfrm flipH="false" flipV="false" rot="0">
              <a:off x="0" y="0"/>
              <a:ext cx="4331589" cy="687451"/>
            </a:xfrm>
            <a:custGeom>
              <a:avLst/>
              <a:gdLst/>
              <a:ahLst/>
              <a:cxnLst/>
              <a:rect r="r" b="b" t="t" l="l"/>
              <a:pathLst>
                <a:path h="687451" w="4331589">
                  <a:moveTo>
                    <a:pt x="0" y="145161"/>
                  </a:moveTo>
                  <a:cubicBezTo>
                    <a:pt x="0" y="65024"/>
                    <a:pt x="65024" y="0"/>
                    <a:pt x="145161" y="0"/>
                  </a:cubicBezTo>
                  <a:lnTo>
                    <a:pt x="4186428" y="0"/>
                  </a:lnTo>
                  <a:cubicBezTo>
                    <a:pt x="4266565" y="0"/>
                    <a:pt x="4331589" y="65024"/>
                    <a:pt x="4331589" y="145161"/>
                  </a:cubicBezTo>
                  <a:lnTo>
                    <a:pt x="4331589" y="542290"/>
                  </a:lnTo>
                  <a:cubicBezTo>
                    <a:pt x="4331589" y="622427"/>
                    <a:pt x="4266565" y="687451"/>
                    <a:pt x="4186428" y="687451"/>
                  </a:cubicBezTo>
                  <a:lnTo>
                    <a:pt x="145161" y="687451"/>
                  </a:lnTo>
                  <a:cubicBezTo>
                    <a:pt x="65024" y="687578"/>
                    <a:pt x="0" y="622554"/>
                    <a:pt x="0" y="542290"/>
                  </a:cubicBezTo>
                  <a:close/>
                </a:path>
              </a:pathLst>
            </a:custGeom>
            <a:solidFill>
              <a:srgbClr val="D2F9F4"/>
            </a:solidFill>
          </p:spPr>
        </p:sp>
      </p:grpSp>
      <p:sp>
        <p:nvSpPr>
          <p:cNvPr name="TextBox 14" id="14"/>
          <p:cNvSpPr txBox="true"/>
          <p:nvPr/>
        </p:nvSpPr>
        <p:spPr>
          <a:xfrm rot="0">
            <a:off x="9993478" y="3800685"/>
            <a:ext cx="3775053"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Core Project Objectives</a:t>
            </a:r>
          </a:p>
        </p:txBody>
      </p:sp>
      <p:sp>
        <p:nvSpPr>
          <p:cNvPr name="TextBox 15" id="15"/>
          <p:cNvSpPr txBox="true"/>
          <p:nvPr/>
        </p:nvSpPr>
        <p:spPr>
          <a:xfrm rot="0">
            <a:off x="9799110" y="4361583"/>
            <a:ext cx="7396991" cy="3558845"/>
          </a:xfrm>
          <a:prstGeom prst="rect">
            <a:avLst/>
          </a:prstGeom>
        </p:spPr>
        <p:txBody>
          <a:bodyPr anchor="t" rtlCol="false" tIns="0" lIns="0" bIns="0" rIns="0">
            <a:spAutoFit/>
          </a:bodyPr>
          <a:lstStyle/>
          <a:p>
            <a:pPr algn="l" marL="462207" indent="-231104" lvl="1">
              <a:lnSpc>
                <a:spcPts val="3521"/>
              </a:lnSpc>
              <a:buAutoNum type="arabicPeriod" startAt="1"/>
            </a:pPr>
            <a:r>
              <a:rPr lang="en-US" sz="2551">
                <a:solidFill>
                  <a:srgbClr val="10201D"/>
                </a:solidFill>
                <a:latin typeface="Inter"/>
                <a:ea typeface="Inter"/>
                <a:cs typeface="Inter"/>
                <a:sym typeface="Inter"/>
              </a:rPr>
              <a:t>Organize assets and storage spaces.</a:t>
            </a:r>
          </a:p>
          <a:p>
            <a:pPr algn="l" marL="462207" indent="-231104" lvl="1">
              <a:lnSpc>
                <a:spcPts val="3521"/>
              </a:lnSpc>
              <a:buAutoNum type="arabicPeriod" startAt="1"/>
            </a:pPr>
            <a:r>
              <a:rPr lang="en-US" sz="2551">
                <a:solidFill>
                  <a:srgbClr val="10201D"/>
                </a:solidFill>
                <a:latin typeface="Inter"/>
                <a:ea typeface="Inter"/>
                <a:cs typeface="Inter"/>
                <a:sym typeface="Inter"/>
              </a:rPr>
              <a:t>Track availability and reservations.</a:t>
            </a:r>
          </a:p>
          <a:p>
            <a:pPr algn="l" marL="462207" indent="-231104" lvl="1">
              <a:lnSpc>
                <a:spcPts val="3521"/>
              </a:lnSpc>
              <a:buAutoNum type="arabicPeriod" startAt="1"/>
            </a:pPr>
            <a:r>
              <a:rPr lang="en-US" sz="2551">
                <a:solidFill>
                  <a:srgbClr val="10201D"/>
                </a:solidFill>
                <a:latin typeface="Inter"/>
                <a:ea typeface="Inter"/>
                <a:cs typeface="Inter"/>
                <a:sym typeface="Inter"/>
              </a:rPr>
              <a:t>Model the rental lifecycle with clear state transitions.</a:t>
            </a:r>
          </a:p>
          <a:p>
            <a:pPr algn="l" marL="462207" indent="-231104" lvl="1">
              <a:lnSpc>
                <a:spcPts val="3521"/>
              </a:lnSpc>
              <a:buAutoNum type="arabicPeriod" startAt="1"/>
            </a:pPr>
            <a:r>
              <a:rPr lang="en-US" sz="2551">
                <a:solidFill>
                  <a:srgbClr val="10201D"/>
                </a:solidFill>
                <a:latin typeface="Inter"/>
                <a:ea typeface="Inter"/>
                <a:cs typeface="Inter"/>
                <a:sym typeface="Inter"/>
              </a:rPr>
              <a:t>Apply Java OOP for maintainable software.</a:t>
            </a:r>
          </a:p>
          <a:p>
            <a:pPr algn="l" marL="462207" indent="-231104" lvl="1">
              <a:lnSpc>
                <a:spcPts val="3521"/>
              </a:lnSpc>
              <a:buAutoNum type="arabicPeriod" startAt="1"/>
            </a:pPr>
            <a:r>
              <a:rPr lang="en-US" sz="2551">
                <a:solidFill>
                  <a:srgbClr val="10201D"/>
                </a:solidFill>
                <a:latin typeface="Inter"/>
                <a:ea typeface="Inter"/>
                <a:cs typeface="Inter"/>
                <a:sym typeface="Inter"/>
              </a:rPr>
              <a:t>Validate operations and handle invalid requests.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461667"/>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FUNCTIONAL SCOPE</a:t>
            </a:r>
          </a:p>
        </p:txBody>
      </p:sp>
      <p:sp>
        <p:nvSpPr>
          <p:cNvPr name="TextBox 3" id="3"/>
          <p:cNvSpPr txBox="true"/>
          <p:nvPr/>
        </p:nvSpPr>
        <p:spPr>
          <a:xfrm rot="0">
            <a:off x="762581" y="1900466"/>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Core modular capabilities designed for deterministic rental operations.</a:t>
            </a:r>
          </a:p>
        </p:txBody>
      </p:sp>
      <p:grpSp>
        <p:nvGrpSpPr>
          <p:cNvPr name="Group 4" id="4"/>
          <p:cNvGrpSpPr/>
          <p:nvPr/>
        </p:nvGrpSpPr>
        <p:grpSpPr>
          <a:xfrm rot="0">
            <a:off x="762581" y="2614279"/>
            <a:ext cx="2806341" cy="4585554"/>
            <a:chOff x="0" y="0"/>
            <a:chExt cx="3741788" cy="6114072"/>
          </a:xfrm>
        </p:grpSpPr>
        <p:sp>
          <p:nvSpPr>
            <p:cNvPr name="Freeform 5" id="5"/>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6" id="6"/>
          <p:cNvSpPr txBox="true"/>
          <p:nvPr/>
        </p:nvSpPr>
        <p:spPr>
          <a:xfrm rot="0">
            <a:off x="1105738" y="3005071"/>
            <a:ext cx="1265996"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01</a:t>
            </a:r>
          </a:p>
        </p:txBody>
      </p:sp>
      <p:grpSp>
        <p:nvGrpSpPr>
          <p:cNvPr name="Group 7" id="7"/>
          <p:cNvGrpSpPr/>
          <p:nvPr/>
        </p:nvGrpSpPr>
        <p:grpSpPr>
          <a:xfrm rot="0">
            <a:off x="1105738" y="3411131"/>
            <a:ext cx="2120027" cy="28594"/>
            <a:chOff x="0" y="0"/>
            <a:chExt cx="2826702" cy="38125"/>
          </a:xfrm>
        </p:grpSpPr>
        <p:sp>
          <p:nvSpPr>
            <p:cNvPr name="Freeform 8" id="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sp>
        <p:nvSpPr>
          <p:cNvPr name="TextBox 9" id="9"/>
          <p:cNvSpPr txBox="true"/>
          <p:nvPr/>
        </p:nvSpPr>
        <p:spPr>
          <a:xfrm rot="0">
            <a:off x="1105738" y="4287412"/>
            <a:ext cx="2120027" cy="431168"/>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Asset Listing</a:t>
            </a:r>
          </a:p>
        </p:txBody>
      </p:sp>
      <p:sp>
        <p:nvSpPr>
          <p:cNvPr name="TextBox 10" id="10"/>
          <p:cNvSpPr txBox="true"/>
          <p:nvPr/>
        </p:nvSpPr>
        <p:spPr>
          <a:xfrm rot="0">
            <a:off x="1105738" y="4944056"/>
            <a:ext cx="212002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Display rentable items.</a:t>
            </a:r>
          </a:p>
        </p:txBody>
      </p:sp>
      <p:grpSp>
        <p:nvGrpSpPr>
          <p:cNvPr name="Group 11" id="11"/>
          <p:cNvGrpSpPr/>
          <p:nvPr/>
        </p:nvGrpSpPr>
        <p:grpSpPr>
          <a:xfrm rot="0">
            <a:off x="4255094" y="2614279"/>
            <a:ext cx="2806494" cy="4585554"/>
            <a:chOff x="0" y="0"/>
            <a:chExt cx="3741992" cy="6114072"/>
          </a:xfrm>
        </p:grpSpPr>
        <p:sp>
          <p:nvSpPr>
            <p:cNvPr name="Freeform 12" id="12"/>
            <p:cNvSpPr/>
            <p:nvPr/>
          </p:nvSpPr>
          <p:spPr>
            <a:xfrm flipH="false" flipV="false" rot="0">
              <a:off x="0" y="0"/>
              <a:ext cx="3741928" cy="6114034"/>
            </a:xfrm>
            <a:custGeom>
              <a:avLst/>
              <a:gdLst/>
              <a:ahLst/>
              <a:cxnLst/>
              <a:rect r="r" b="b" t="t" l="l"/>
              <a:pathLst>
                <a:path h="6114034" w="3741928">
                  <a:moveTo>
                    <a:pt x="0" y="181483"/>
                  </a:moveTo>
                  <a:cubicBezTo>
                    <a:pt x="0" y="81280"/>
                    <a:pt x="81280" y="0"/>
                    <a:pt x="181483" y="0"/>
                  </a:cubicBezTo>
                  <a:lnTo>
                    <a:pt x="3560445" y="0"/>
                  </a:lnTo>
                  <a:cubicBezTo>
                    <a:pt x="3660648" y="0"/>
                    <a:pt x="3741928" y="81280"/>
                    <a:pt x="3741928" y="181483"/>
                  </a:cubicBezTo>
                  <a:lnTo>
                    <a:pt x="3741928" y="5932551"/>
                  </a:lnTo>
                  <a:cubicBezTo>
                    <a:pt x="3741928" y="6032754"/>
                    <a:pt x="3660648" y="6114034"/>
                    <a:pt x="3560445" y="6114034"/>
                  </a:cubicBezTo>
                  <a:lnTo>
                    <a:pt x="181483" y="6114034"/>
                  </a:lnTo>
                  <a:cubicBezTo>
                    <a:pt x="81280" y="6114034"/>
                    <a:pt x="0" y="6032881"/>
                    <a:pt x="0" y="5932551"/>
                  </a:cubicBezTo>
                  <a:close/>
                </a:path>
              </a:pathLst>
            </a:custGeom>
            <a:solidFill>
              <a:srgbClr val="E5E9DA"/>
            </a:solidFill>
          </p:spPr>
        </p:sp>
      </p:grpSp>
      <p:sp>
        <p:nvSpPr>
          <p:cNvPr name="TextBox 13" id="13"/>
          <p:cNvSpPr txBox="true"/>
          <p:nvPr/>
        </p:nvSpPr>
        <p:spPr>
          <a:xfrm rot="0">
            <a:off x="4598251" y="3005071"/>
            <a:ext cx="1330938"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02</a:t>
            </a:r>
          </a:p>
        </p:txBody>
      </p:sp>
      <p:grpSp>
        <p:nvGrpSpPr>
          <p:cNvPr name="Group 14" id="14"/>
          <p:cNvGrpSpPr/>
          <p:nvPr/>
        </p:nvGrpSpPr>
        <p:grpSpPr>
          <a:xfrm rot="0">
            <a:off x="4598251" y="3411131"/>
            <a:ext cx="2120027" cy="28594"/>
            <a:chOff x="0" y="0"/>
            <a:chExt cx="2826702" cy="38125"/>
          </a:xfrm>
        </p:grpSpPr>
        <p:sp>
          <p:nvSpPr>
            <p:cNvPr name="Freeform 15" id="15"/>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sp>
        <p:nvSpPr>
          <p:cNvPr name="TextBox 16" id="16"/>
          <p:cNvSpPr txBox="true"/>
          <p:nvPr/>
        </p:nvSpPr>
        <p:spPr>
          <a:xfrm rot="0">
            <a:off x="4598251" y="4287412"/>
            <a:ext cx="2120170"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Availability Management</a:t>
            </a:r>
          </a:p>
        </p:txBody>
      </p:sp>
      <p:sp>
        <p:nvSpPr>
          <p:cNvPr name="TextBox 17" id="17"/>
          <p:cNvSpPr txBox="true"/>
          <p:nvPr/>
        </p:nvSpPr>
        <p:spPr>
          <a:xfrm rot="0">
            <a:off x="4598251" y="5346659"/>
            <a:ext cx="2120170"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Check whether an asset can be reserved.</a:t>
            </a:r>
          </a:p>
        </p:txBody>
      </p:sp>
      <p:grpSp>
        <p:nvGrpSpPr>
          <p:cNvPr name="Group 18" id="18"/>
          <p:cNvGrpSpPr/>
          <p:nvPr/>
        </p:nvGrpSpPr>
        <p:grpSpPr>
          <a:xfrm rot="0">
            <a:off x="7747749" y="2614279"/>
            <a:ext cx="2806341" cy="4585554"/>
            <a:chOff x="0" y="0"/>
            <a:chExt cx="3741788" cy="6114072"/>
          </a:xfrm>
        </p:grpSpPr>
        <p:sp>
          <p:nvSpPr>
            <p:cNvPr name="Freeform 19" id="19"/>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20" id="20"/>
          <p:cNvSpPr txBox="true"/>
          <p:nvPr/>
        </p:nvSpPr>
        <p:spPr>
          <a:xfrm rot="0">
            <a:off x="8090906" y="3005071"/>
            <a:ext cx="1335110"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03</a:t>
            </a:r>
          </a:p>
        </p:txBody>
      </p:sp>
      <p:grpSp>
        <p:nvGrpSpPr>
          <p:cNvPr name="Group 21" id="21"/>
          <p:cNvGrpSpPr/>
          <p:nvPr/>
        </p:nvGrpSpPr>
        <p:grpSpPr>
          <a:xfrm rot="0">
            <a:off x="8090906" y="3411131"/>
            <a:ext cx="2120027" cy="28594"/>
            <a:chOff x="0" y="0"/>
            <a:chExt cx="2826702" cy="38125"/>
          </a:xfrm>
        </p:grpSpPr>
        <p:sp>
          <p:nvSpPr>
            <p:cNvPr name="Freeform 22" id="22"/>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sp>
        <p:nvSpPr>
          <p:cNvPr name="TextBox 23" id="23"/>
          <p:cNvSpPr txBox="true"/>
          <p:nvPr/>
        </p:nvSpPr>
        <p:spPr>
          <a:xfrm rot="0">
            <a:off x="8090906" y="4287412"/>
            <a:ext cx="2120027"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Reservation Management</a:t>
            </a:r>
          </a:p>
        </p:txBody>
      </p:sp>
      <p:sp>
        <p:nvSpPr>
          <p:cNvPr name="TextBox 24" id="24"/>
          <p:cNvSpPr txBox="true"/>
          <p:nvPr/>
        </p:nvSpPr>
        <p:spPr>
          <a:xfrm rot="0">
            <a:off x="8090906" y="5346659"/>
            <a:ext cx="2120027"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Handle requests for available assets.</a:t>
            </a:r>
          </a:p>
        </p:txBody>
      </p:sp>
      <p:grpSp>
        <p:nvGrpSpPr>
          <p:cNvPr name="Group 25" id="25"/>
          <p:cNvGrpSpPr/>
          <p:nvPr/>
        </p:nvGrpSpPr>
        <p:grpSpPr>
          <a:xfrm rot="0">
            <a:off x="11240262" y="2614279"/>
            <a:ext cx="2806494" cy="4585554"/>
            <a:chOff x="0" y="0"/>
            <a:chExt cx="3741992" cy="6114072"/>
          </a:xfrm>
        </p:grpSpPr>
        <p:sp>
          <p:nvSpPr>
            <p:cNvPr name="Freeform 26" id="26"/>
            <p:cNvSpPr/>
            <p:nvPr/>
          </p:nvSpPr>
          <p:spPr>
            <a:xfrm flipH="false" flipV="false" rot="0">
              <a:off x="0" y="0"/>
              <a:ext cx="3741928" cy="6114034"/>
            </a:xfrm>
            <a:custGeom>
              <a:avLst/>
              <a:gdLst/>
              <a:ahLst/>
              <a:cxnLst/>
              <a:rect r="r" b="b" t="t" l="l"/>
              <a:pathLst>
                <a:path h="6114034" w="3741928">
                  <a:moveTo>
                    <a:pt x="0" y="181483"/>
                  </a:moveTo>
                  <a:cubicBezTo>
                    <a:pt x="0" y="81280"/>
                    <a:pt x="81280" y="0"/>
                    <a:pt x="181483" y="0"/>
                  </a:cubicBezTo>
                  <a:lnTo>
                    <a:pt x="3560445" y="0"/>
                  </a:lnTo>
                  <a:cubicBezTo>
                    <a:pt x="3660648" y="0"/>
                    <a:pt x="3741928" y="81280"/>
                    <a:pt x="3741928" y="181483"/>
                  </a:cubicBezTo>
                  <a:lnTo>
                    <a:pt x="3741928" y="5932551"/>
                  </a:lnTo>
                  <a:cubicBezTo>
                    <a:pt x="3741928" y="6032754"/>
                    <a:pt x="3660648" y="6114034"/>
                    <a:pt x="3560445" y="6114034"/>
                  </a:cubicBezTo>
                  <a:lnTo>
                    <a:pt x="181483" y="6114034"/>
                  </a:lnTo>
                  <a:cubicBezTo>
                    <a:pt x="81280" y="6114034"/>
                    <a:pt x="0" y="6032881"/>
                    <a:pt x="0" y="5932551"/>
                  </a:cubicBezTo>
                  <a:close/>
                </a:path>
              </a:pathLst>
            </a:custGeom>
            <a:solidFill>
              <a:srgbClr val="E5E9DA"/>
            </a:solidFill>
          </p:spPr>
        </p:sp>
      </p:grpSp>
      <p:sp>
        <p:nvSpPr>
          <p:cNvPr name="TextBox 27" id="27"/>
          <p:cNvSpPr txBox="true"/>
          <p:nvPr/>
        </p:nvSpPr>
        <p:spPr>
          <a:xfrm rot="0">
            <a:off x="11583419" y="3005071"/>
            <a:ext cx="1344787"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04</a:t>
            </a:r>
          </a:p>
        </p:txBody>
      </p:sp>
      <p:grpSp>
        <p:nvGrpSpPr>
          <p:cNvPr name="Group 28" id="28"/>
          <p:cNvGrpSpPr/>
          <p:nvPr/>
        </p:nvGrpSpPr>
        <p:grpSpPr>
          <a:xfrm rot="0">
            <a:off x="11583419" y="3411131"/>
            <a:ext cx="2120027" cy="28594"/>
            <a:chOff x="0" y="0"/>
            <a:chExt cx="2826702" cy="38125"/>
          </a:xfrm>
        </p:grpSpPr>
        <p:sp>
          <p:nvSpPr>
            <p:cNvPr name="Freeform 29" id="29"/>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sp>
        <p:nvSpPr>
          <p:cNvPr name="TextBox 30" id="30"/>
          <p:cNvSpPr txBox="true"/>
          <p:nvPr/>
        </p:nvSpPr>
        <p:spPr>
          <a:xfrm rot="0">
            <a:off x="11583419" y="4287412"/>
            <a:ext cx="2120170"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Rental Lifecycle</a:t>
            </a:r>
          </a:p>
        </p:txBody>
      </p:sp>
      <p:sp>
        <p:nvSpPr>
          <p:cNvPr name="TextBox 31" id="31"/>
          <p:cNvSpPr txBox="true"/>
          <p:nvPr/>
        </p:nvSpPr>
        <p:spPr>
          <a:xfrm rot="0">
            <a:off x="11583419" y="5346659"/>
            <a:ext cx="2120170"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Reservation, active lease, return, and inspection.</a:t>
            </a:r>
          </a:p>
        </p:txBody>
      </p:sp>
      <p:grpSp>
        <p:nvGrpSpPr>
          <p:cNvPr name="Group 32" id="32"/>
          <p:cNvGrpSpPr/>
          <p:nvPr/>
        </p:nvGrpSpPr>
        <p:grpSpPr>
          <a:xfrm rot="0">
            <a:off x="14732927" y="2614279"/>
            <a:ext cx="2806341" cy="4585554"/>
            <a:chOff x="0" y="0"/>
            <a:chExt cx="3741788" cy="6114072"/>
          </a:xfrm>
        </p:grpSpPr>
        <p:sp>
          <p:nvSpPr>
            <p:cNvPr name="Freeform 33" id="33"/>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34" id="34"/>
          <p:cNvSpPr txBox="true"/>
          <p:nvPr/>
        </p:nvSpPr>
        <p:spPr>
          <a:xfrm rot="0">
            <a:off x="15076084" y="3005071"/>
            <a:ext cx="1327356"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05</a:t>
            </a:r>
          </a:p>
        </p:txBody>
      </p:sp>
      <p:grpSp>
        <p:nvGrpSpPr>
          <p:cNvPr name="Group 35" id="35"/>
          <p:cNvGrpSpPr/>
          <p:nvPr/>
        </p:nvGrpSpPr>
        <p:grpSpPr>
          <a:xfrm rot="0">
            <a:off x="15076084" y="3411131"/>
            <a:ext cx="2120027" cy="28594"/>
            <a:chOff x="0" y="0"/>
            <a:chExt cx="2826702" cy="38125"/>
          </a:xfrm>
        </p:grpSpPr>
        <p:sp>
          <p:nvSpPr>
            <p:cNvPr name="Freeform 36" id="36"/>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sp>
        <p:nvSpPr>
          <p:cNvPr name="TextBox 37" id="37"/>
          <p:cNvSpPr txBox="true"/>
          <p:nvPr/>
        </p:nvSpPr>
        <p:spPr>
          <a:xfrm rot="0">
            <a:off x="15076084" y="4287412"/>
            <a:ext cx="2120027"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Micro-Storage Management</a:t>
            </a:r>
          </a:p>
        </p:txBody>
      </p:sp>
      <p:sp>
        <p:nvSpPr>
          <p:cNvPr name="TextBox 38" id="38"/>
          <p:cNvSpPr txBox="true"/>
          <p:nvPr/>
        </p:nvSpPr>
        <p:spPr>
          <a:xfrm rot="0">
            <a:off x="15076084" y="5346659"/>
            <a:ext cx="2120027"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Represent and manage storage slots.</a:t>
            </a:r>
          </a:p>
        </p:txBody>
      </p:sp>
      <p:grpSp>
        <p:nvGrpSpPr>
          <p:cNvPr name="Group 39" id="39"/>
          <p:cNvGrpSpPr/>
          <p:nvPr/>
        </p:nvGrpSpPr>
        <p:grpSpPr>
          <a:xfrm rot="0">
            <a:off x="753046" y="8356530"/>
            <a:ext cx="16795756" cy="1490491"/>
            <a:chOff x="0" y="0"/>
            <a:chExt cx="22394342" cy="1987321"/>
          </a:xfrm>
        </p:grpSpPr>
        <p:sp>
          <p:nvSpPr>
            <p:cNvPr name="Freeform 40" id="40"/>
            <p:cNvSpPr/>
            <p:nvPr/>
          </p:nvSpPr>
          <p:spPr>
            <a:xfrm flipH="false" flipV="false" rot="0">
              <a:off x="0" y="0"/>
              <a:ext cx="22394292" cy="1987296"/>
            </a:xfrm>
            <a:custGeom>
              <a:avLst/>
              <a:gdLst/>
              <a:ahLst/>
              <a:cxnLst/>
              <a:rect r="r" b="b" t="t" l="l"/>
              <a:pathLst>
                <a:path h="1987296" w="22394292">
                  <a:moveTo>
                    <a:pt x="0" y="432562"/>
                  </a:moveTo>
                  <a:cubicBezTo>
                    <a:pt x="0" y="193675"/>
                    <a:pt x="193675" y="0"/>
                    <a:pt x="432562" y="0"/>
                  </a:cubicBezTo>
                  <a:lnTo>
                    <a:pt x="21961729" y="0"/>
                  </a:lnTo>
                  <a:cubicBezTo>
                    <a:pt x="22200617" y="0"/>
                    <a:pt x="22394292" y="193675"/>
                    <a:pt x="22394292" y="432562"/>
                  </a:cubicBezTo>
                  <a:lnTo>
                    <a:pt x="22394292" y="1554734"/>
                  </a:lnTo>
                  <a:cubicBezTo>
                    <a:pt x="22394292" y="1793621"/>
                    <a:pt x="22200617" y="1987296"/>
                    <a:pt x="21961729" y="1987296"/>
                  </a:cubicBezTo>
                  <a:lnTo>
                    <a:pt x="432562" y="1987296"/>
                  </a:lnTo>
                  <a:cubicBezTo>
                    <a:pt x="193675" y="1987296"/>
                    <a:pt x="0" y="1793621"/>
                    <a:pt x="0" y="1554734"/>
                  </a:cubicBezTo>
                  <a:close/>
                </a:path>
              </a:pathLst>
            </a:custGeom>
            <a:solidFill>
              <a:srgbClr val="FFFFFF"/>
            </a:solidFill>
            <a:ln w="19065" cap="sq">
              <a:solidFill>
                <a:srgbClr val="CBD4CE"/>
              </a:solidFill>
              <a:prstDash val="solid"/>
              <a:miter/>
            </a:ln>
          </p:spPr>
        </p:sp>
      </p:grpSp>
      <p:sp>
        <p:nvSpPr>
          <p:cNvPr name="TextBox 41" id="41"/>
          <p:cNvSpPr txBox="true"/>
          <p:nvPr/>
        </p:nvSpPr>
        <p:spPr>
          <a:xfrm rot="0">
            <a:off x="1086669" y="8618010"/>
            <a:ext cx="16452590" cy="269434"/>
          </a:xfrm>
          <a:prstGeom prst="rect">
            <a:avLst/>
          </a:prstGeom>
        </p:spPr>
        <p:txBody>
          <a:bodyPr anchor="t" rtlCol="false" tIns="0" lIns="0" bIns="0" rIns="0">
            <a:spAutoFit/>
          </a:bodyPr>
          <a:lstStyle/>
          <a:p>
            <a:pPr algn="l">
              <a:lnSpc>
                <a:spcPts val="2040"/>
              </a:lnSpc>
            </a:pPr>
            <a:r>
              <a:rPr lang="en-US" sz="1651" spc="90">
                <a:solidFill>
                  <a:srgbClr val="10201D"/>
                </a:solidFill>
                <a:latin typeface="IBM Plex Sans"/>
                <a:ea typeface="IBM Plex Sans"/>
                <a:cs typeface="IBM Plex Sans"/>
                <a:sym typeface="IBM Plex Sans"/>
              </a:rPr>
              <a:t>END-TO-END USER JOURNEY</a:t>
            </a:r>
          </a:p>
        </p:txBody>
      </p:sp>
      <p:grpSp>
        <p:nvGrpSpPr>
          <p:cNvPr name="Group 42" id="42"/>
          <p:cNvGrpSpPr/>
          <p:nvPr/>
        </p:nvGrpSpPr>
        <p:grpSpPr>
          <a:xfrm rot="0">
            <a:off x="1086669" y="9097832"/>
            <a:ext cx="2150402" cy="491814"/>
            <a:chOff x="0" y="0"/>
            <a:chExt cx="2867203" cy="655752"/>
          </a:xfrm>
        </p:grpSpPr>
        <p:sp>
          <p:nvSpPr>
            <p:cNvPr name="Freeform 43" id="43"/>
            <p:cNvSpPr/>
            <p:nvPr/>
          </p:nvSpPr>
          <p:spPr>
            <a:xfrm flipH="false" flipV="false" rot="0">
              <a:off x="0" y="0"/>
              <a:ext cx="2867279" cy="655828"/>
            </a:xfrm>
            <a:custGeom>
              <a:avLst/>
              <a:gdLst/>
              <a:ahLst/>
              <a:cxnLst/>
              <a:rect r="r" b="b" t="t" l="l"/>
              <a:pathLst>
                <a:path h="655828" w="2867279">
                  <a:moveTo>
                    <a:pt x="0" y="327914"/>
                  </a:moveTo>
                  <a:cubicBezTo>
                    <a:pt x="0" y="146812"/>
                    <a:pt x="146812" y="0"/>
                    <a:pt x="327914" y="0"/>
                  </a:cubicBezTo>
                  <a:lnTo>
                    <a:pt x="2539365" y="0"/>
                  </a:lnTo>
                  <a:cubicBezTo>
                    <a:pt x="2720467" y="0"/>
                    <a:pt x="2867279" y="146812"/>
                    <a:pt x="2867279" y="327914"/>
                  </a:cubicBezTo>
                  <a:cubicBezTo>
                    <a:pt x="2867279" y="509016"/>
                    <a:pt x="2720467" y="655828"/>
                    <a:pt x="2539365" y="655828"/>
                  </a:cubicBezTo>
                  <a:lnTo>
                    <a:pt x="327914" y="655828"/>
                  </a:lnTo>
                  <a:cubicBezTo>
                    <a:pt x="146812" y="655701"/>
                    <a:pt x="0" y="509016"/>
                    <a:pt x="0" y="327914"/>
                  </a:cubicBezTo>
                  <a:close/>
                </a:path>
              </a:pathLst>
            </a:custGeom>
            <a:solidFill>
              <a:srgbClr val="0A7C78"/>
            </a:solidFill>
          </p:spPr>
        </p:sp>
      </p:grpSp>
      <p:sp>
        <p:nvSpPr>
          <p:cNvPr name="TextBox 44" id="44"/>
          <p:cNvSpPr txBox="true"/>
          <p:nvPr/>
        </p:nvSpPr>
        <p:spPr>
          <a:xfrm rot="0">
            <a:off x="1086669" y="9189358"/>
            <a:ext cx="2150402"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Browse</a:t>
            </a:r>
          </a:p>
        </p:txBody>
      </p:sp>
      <p:grpSp>
        <p:nvGrpSpPr>
          <p:cNvPr name="Group 45" id="45"/>
          <p:cNvGrpSpPr/>
          <p:nvPr/>
        </p:nvGrpSpPr>
        <p:grpSpPr>
          <a:xfrm rot="0">
            <a:off x="3237081" y="9319908"/>
            <a:ext cx="537524" cy="47511"/>
            <a:chOff x="0" y="0"/>
            <a:chExt cx="716699" cy="63348"/>
          </a:xfrm>
        </p:grpSpPr>
        <p:sp>
          <p:nvSpPr>
            <p:cNvPr name="Freeform 46" id="46"/>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47" id="47"/>
          <p:cNvGrpSpPr/>
          <p:nvPr/>
        </p:nvGrpSpPr>
        <p:grpSpPr>
          <a:xfrm rot="0">
            <a:off x="3774605" y="9097832"/>
            <a:ext cx="2150554" cy="491814"/>
            <a:chOff x="0" y="0"/>
            <a:chExt cx="2867406" cy="655752"/>
          </a:xfrm>
        </p:grpSpPr>
        <p:sp>
          <p:nvSpPr>
            <p:cNvPr name="Freeform 48" id="48"/>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49" id="49"/>
          <p:cNvSpPr txBox="true"/>
          <p:nvPr/>
        </p:nvSpPr>
        <p:spPr>
          <a:xfrm rot="0">
            <a:off x="3774605"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Select</a:t>
            </a:r>
          </a:p>
        </p:txBody>
      </p:sp>
      <p:grpSp>
        <p:nvGrpSpPr>
          <p:cNvPr name="Group 50" id="50"/>
          <p:cNvGrpSpPr/>
          <p:nvPr/>
        </p:nvGrpSpPr>
        <p:grpSpPr>
          <a:xfrm rot="0">
            <a:off x="5925160" y="9319908"/>
            <a:ext cx="537524" cy="47511"/>
            <a:chOff x="0" y="0"/>
            <a:chExt cx="716699" cy="63348"/>
          </a:xfrm>
        </p:grpSpPr>
        <p:sp>
          <p:nvSpPr>
            <p:cNvPr name="Freeform 51" id="51"/>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52" id="52"/>
          <p:cNvGrpSpPr/>
          <p:nvPr/>
        </p:nvGrpSpPr>
        <p:grpSpPr>
          <a:xfrm rot="0">
            <a:off x="6462684" y="9097832"/>
            <a:ext cx="2150554" cy="491814"/>
            <a:chOff x="0" y="0"/>
            <a:chExt cx="2867406" cy="655752"/>
          </a:xfrm>
        </p:grpSpPr>
        <p:sp>
          <p:nvSpPr>
            <p:cNvPr name="Freeform 53" id="53"/>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54" id="54"/>
          <p:cNvSpPr txBox="true"/>
          <p:nvPr/>
        </p:nvSpPr>
        <p:spPr>
          <a:xfrm rot="0">
            <a:off x="6462684"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Reserve</a:t>
            </a:r>
          </a:p>
        </p:txBody>
      </p:sp>
      <p:grpSp>
        <p:nvGrpSpPr>
          <p:cNvPr name="Group 55" id="55"/>
          <p:cNvGrpSpPr/>
          <p:nvPr/>
        </p:nvGrpSpPr>
        <p:grpSpPr>
          <a:xfrm rot="0">
            <a:off x="8613248" y="9319908"/>
            <a:ext cx="537524" cy="47511"/>
            <a:chOff x="0" y="0"/>
            <a:chExt cx="716699" cy="63348"/>
          </a:xfrm>
        </p:grpSpPr>
        <p:sp>
          <p:nvSpPr>
            <p:cNvPr name="Freeform 56" id="56"/>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57" id="57"/>
          <p:cNvGrpSpPr/>
          <p:nvPr/>
        </p:nvGrpSpPr>
        <p:grpSpPr>
          <a:xfrm rot="0">
            <a:off x="9150772" y="9097832"/>
            <a:ext cx="2150554" cy="491814"/>
            <a:chOff x="0" y="0"/>
            <a:chExt cx="2867406" cy="655752"/>
          </a:xfrm>
        </p:grpSpPr>
        <p:sp>
          <p:nvSpPr>
            <p:cNvPr name="Freeform 58" id="58"/>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59" id="59"/>
          <p:cNvSpPr txBox="true"/>
          <p:nvPr/>
        </p:nvSpPr>
        <p:spPr>
          <a:xfrm rot="0">
            <a:off x="9150772"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Rent</a:t>
            </a:r>
          </a:p>
        </p:txBody>
      </p:sp>
      <p:grpSp>
        <p:nvGrpSpPr>
          <p:cNvPr name="Group 60" id="60"/>
          <p:cNvGrpSpPr/>
          <p:nvPr/>
        </p:nvGrpSpPr>
        <p:grpSpPr>
          <a:xfrm rot="0">
            <a:off x="11301327" y="9319908"/>
            <a:ext cx="537524" cy="47511"/>
            <a:chOff x="0" y="0"/>
            <a:chExt cx="716699" cy="63348"/>
          </a:xfrm>
        </p:grpSpPr>
        <p:sp>
          <p:nvSpPr>
            <p:cNvPr name="Freeform 61" id="61"/>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62" id="62"/>
          <p:cNvGrpSpPr/>
          <p:nvPr/>
        </p:nvGrpSpPr>
        <p:grpSpPr>
          <a:xfrm rot="0">
            <a:off x="11838851" y="9097832"/>
            <a:ext cx="2150554" cy="491814"/>
            <a:chOff x="0" y="0"/>
            <a:chExt cx="2867406" cy="655752"/>
          </a:xfrm>
        </p:grpSpPr>
        <p:sp>
          <p:nvSpPr>
            <p:cNvPr name="Freeform 63" id="63"/>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64" id="64"/>
          <p:cNvSpPr txBox="true"/>
          <p:nvPr/>
        </p:nvSpPr>
        <p:spPr>
          <a:xfrm rot="0">
            <a:off x="11838851"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Return</a:t>
            </a:r>
          </a:p>
        </p:txBody>
      </p:sp>
      <p:grpSp>
        <p:nvGrpSpPr>
          <p:cNvPr name="Group 65" id="65"/>
          <p:cNvGrpSpPr/>
          <p:nvPr/>
        </p:nvGrpSpPr>
        <p:grpSpPr>
          <a:xfrm rot="0">
            <a:off x="13989406" y="9319908"/>
            <a:ext cx="537524" cy="47511"/>
            <a:chOff x="0" y="0"/>
            <a:chExt cx="716699" cy="63348"/>
          </a:xfrm>
        </p:grpSpPr>
        <p:sp>
          <p:nvSpPr>
            <p:cNvPr name="Freeform 66" id="66"/>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67" id="67"/>
          <p:cNvGrpSpPr/>
          <p:nvPr/>
        </p:nvGrpSpPr>
        <p:grpSpPr>
          <a:xfrm rot="0">
            <a:off x="14526939" y="9097832"/>
            <a:ext cx="2688079" cy="491814"/>
            <a:chOff x="0" y="0"/>
            <a:chExt cx="3584105" cy="655752"/>
          </a:xfrm>
        </p:grpSpPr>
        <p:sp>
          <p:nvSpPr>
            <p:cNvPr name="Freeform 68" id="68"/>
            <p:cNvSpPr/>
            <p:nvPr/>
          </p:nvSpPr>
          <p:spPr>
            <a:xfrm flipH="false" flipV="false" rot="0">
              <a:off x="0" y="0"/>
              <a:ext cx="3584194" cy="655828"/>
            </a:xfrm>
            <a:custGeom>
              <a:avLst/>
              <a:gdLst/>
              <a:ahLst/>
              <a:cxnLst/>
              <a:rect r="r" b="b" t="t" l="l"/>
              <a:pathLst>
                <a:path h="655828" w="3584194">
                  <a:moveTo>
                    <a:pt x="0" y="327914"/>
                  </a:moveTo>
                  <a:cubicBezTo>
                    <a:pt x="0" y="146812"/>
                    <a:pt x="146812" y="0"/>
                    <a:pt x="327914" y="0"/>
                  </a:cubicBezTo>
                  <a:lnTo>
                    <a:pt x="3256280" y="0"/>
                  </a:lnTo>
                  <a:cubicBezTo>
                    <a:pt x="3437382" y="0"/>
                    <a:pt x="3584194" y="146812"/>
                    <a:pt x="3584194" y="327914"/>
                  </a:cubicBezTo>
                  <a:cubicBezTo>
                    <a:pt x="3584194" y="509016"/>
                    <a:pt x="3437382" y="655828"/>
                    <a:pt x="3256280" y="655828"/>
                  </a:cubicBezTo>
                  <a:lnTo>
                    <a:pt x="327914" y="655828"/>
                  </a:lnTo>
                  <a:cubicBezTo>
                    <a:pt x="146812" y="655701"/>
                    <a:pt x="0" y="509016"/>
                    <a:pt x="0" y="327914"/>
                  </a:cubicBezTo>
                  <a:close/>
                </a:path>
              </a:pathLst>
            </a:custGeom>
            <a:solidFill>
              <a:srgbClr val="F26A3D"/>
            </a:solidFill>
          </p:spPr>
        </p:sp>
      </p:grpSp>
      <p:sp>
        <p:nvSpPr>
          <p:cNvPr name="TextBox 69" id="69"/>
          <p:cNvSpPr txBox="true"/>
          <p:nvPr/>
        </p:nvSpPr>
        <p:spPr>
          <a:xfrm rot="0">
            <a:off x="14526939" y="9189358"/>
            <a:ext cx="2688079" cy="291608"/>
          </a:xfrm>
          <a:prstGeom prst="rect">
            <a:avLst/>
          </a:prstGeom>
        </p:spPr>
        <p:txBody>
          <a:bodyPr anchor="t" rtlCol="false" tIns="0" lIns="0" bIns="0" rIns="0">
            <a:spAutoFit/>
          </a:bodyPr>
          <a:lstStyle/>
          <a:p>
            <a:pPr algn="ctr">
              <a:lnSpc>
                <a:spcPts val="2071"/>
              </a:lnSpc>
            </a:pPr>
            <a:r>
              <a:rPr lang="en-US" sz="1501" b="true">
                <a:solidFill>
                  <a:srgbClr val="10201D"/>
                </a:solidFill>
                <a:latin typeface="Inter Bold"/>
                <a:ea typeface="Inter Bold"/>
                <a:cs typeface="Inter Bold"/>
                <a:sym typeface="Inter Bold"/>
              </a:rPr>
              <a:t>Inspect</a:t>
            </a:r>
          </a:p>
        </p:txBody>
      </p:sp>
      <p:sp>
        <p:nvSpPr>
          <p:cNvPr name="TextBox 70" id="70"/>
          <p:cNvSpPr txBox="true"/>
          <p:nvPr/>
        </p:nvSpPr>
        <p:spPr>
          <a:xfrm rot="0">
            <a:off x="570443" y="1104900"/>
            <a:ext cx="4258595" cy="693417"/>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Core Features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0439"/>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LANDSCAPE COMPARISON</a:t>
            </a:r>
          </a:p>
        </p:txBody>
      </p:sp>
      <p:sp>
        <p:nvSpPr>
          <p:cNvPr name="TextBox 3" id="3"/>
          <p:cNvSpPr txBox="true"/>
          <p:nvPr/>
        </p:nvSpPr>
        <p:spPr>
          <a:xfrm rot="0">
            <a:off x="762581" y="123240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Where RentSphere Fits</a:t>
            </a:r>
          </a:p>
        </p:txBody>
      </p:sp>
      <p:sp>
        <p:nvSpPr>
          <p:cNvPr name="TextBox 4" id="4"/>
          <p:cNvSpPr txBox="true"/>
          <p:nvPr/>
        </p:nvSpPr>
        <p:spPr>
          <a:xfrm rot="0">
            <a:off x="762581" y="2129238"/>
            <a:ext cx="17539268" cy="427436"/>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Comparing verified competitor information with RentSphere’s implemented capabilities.</a:t>
            </a:r>
          </a:p>
        </p:txBody>
      </p:sp>
      <p:graphicFrame>
        <p:nvGraphicFramePr>
          <p:cNvPr name="Table 5" id="5"/>
          <p:cNvGraphicFramePr>
            <a:graphicFrameLocks noGrp="true"/>
          </p:cNvGraphicFramePr>
          <p:nvPr/>
        </p:nvGraphicFramePr>
        <p:xfrm>
          <a:off x="762576" y="2843053"/>
          <a:ext cx="13928297" cy="6563273"/>
        </p:xfrm>
        <a:graphic>
          <a:graphicData uri="http://schemas.openxmlformats.org/drawingml/2006/table">
            <a:tbl>
              <a:tblPr/>
              <a:tblGrid>
                <a:gridCol w="2673974"/>
                <a:gridCol w="2673974"/>
                <a:gridCol w="2673974"/>
                <a:gridCol w="2673974"/>
                <a:gridCol w="3003594"/>
                <a:gridCol w="228807"/>
              </a:tblGrid>
              <a:tr h="941400">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Platform</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General discovery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Product rental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Storage management</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Explicit lifecycle tracking</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r>
              <a:tr h="1507868">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OLX</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local classifieds to buy, sell and rent used goods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Limited: rent ads exist, mainly property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offered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 rental lifecycle (ad listings only)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645738">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SharePal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Browse by category and city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trekking and riding gear, cameras, consoles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offered (delivery and return model)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publicly documented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192933">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StoreSpace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 it’s a B2B warehouse service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pay-as-you-go warehousing</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Inventory tracking only (WMS), not a rental lifecycle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275334">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RentSphere (Proposed)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Peer-to-peer asset discovery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Product rental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Micro-storage management</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5 explicit states with validated transitions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0439"/>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FINANCIAL SUSTAINABILITY</a:t>
            </a:r>
          </a:p>
        </p:txBody>
      </p:sp>
      <p:sp>
        <p:nvSpPr>
          <p:cNvPr name="TextBox 3" id="3"/>
          <p:cNvSpPr txBox="true"/>
          <p:nvPr/>
        </p:nvSpPr>
        <p:spPr>
          <a:xfrm rot="0">
            <a:off x="762581" y="123240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How RentSphere Could Generate Revenue</a:t>
            </a:r>
          </a:p>
        </p:txBody>
      </p:sp>
      <p:sp>
        <p:nvSpPr>
          <p:cNvPr name="TextBox 4" id="4"/>
          <p:cNvSpPr txBox="true"/>
          <p:nvPr/>
        </p:nvSpPr>
        <p:spPr>
          <a:xfrm rot="0">
            <a:off x="762581" y="2129238"/>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Theoretical monetization avenues for platform self-sufficiency.</a:t>
            </a:r>
          </a:p>
        </p:txBody>
      </p:sp>
      <p:grpSp>
        <p:nvGrpSpPr>
          <p:cNvPr name="Group 5" id="5"/>
          <p:cNvGrpSpPr/>
          <p:nvPr/>
        </p:nvGrpSpPr>
        <p:grpSpPr>
          <a:xfrm rot="0">
            <a:off x="757809" y="2838288"/>
            <a:ext cx="4032123" cy="3470853"/>
            <a:chOff x="0" y="0"/>
            <a:chExt cx="5376164" cy="4627804"/>
          </a:xfrm>
        </p:grpSpPr>
        <p:sp>
          <p:nvSpPr>
            <p:cNvPr name="Freeform 6" id="6"/>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7" id="7"/>
          <p:cNvGrpSpPr/>
          <p:nvPr/>
        </p:nvGrpSpPr>
        <p:grpSpPr>
          <a:xfrm rot="0">
            <a:off x="1039016" y="3119495"/>
            <a:ext cx="2328396" cy="515645"/>
            <a:chOff x="0" y="0"/>
            <a:chExt cx="3104528" cy="687527"/>
          </a:xfrm>
        </p:grpSpPr>
        <p:sp>
          <p:nvSpPr>
            <p:cNvPr name="Freeform 8" id="8"/>
            <p:cNvSpPr/>
            <p:nvPr/>
          </p:nvSpPr>
          <p:spPr>
            <a:xfrm flipH="false" flipV="false" rot="0">
              <a:off x="0" y="0"/>
              <a:ext cx="3104515" cy="687451"/>
            </a:xfrm>
            <a:custGeom>
              <a:avLst/>
              <a:gdLst/>
              <a:ahLst/>
              <a:cxnLst/>
              <a:rect r="r" b="b" t="t" l="l"/>
              <a:pathLst>
                <a:path h="687451" w="3104515">
                  <a:moveTo>
                    <a:pt x="0" y="145161"/>
                  </a:moveTo>
                  <a:cubicBezTo>
                    <a:pt x="0" y="65024"/>
                    <a:pt x="65024" y="0"/>
                    <a:pt x="145161" y="0"/>
                  </a:cubicBezTo>
                  <a:lnTo>
                    <a:pt x="2959354" y="0"/>
                  </a:lnTo>
                  <a:cubicBezTo>
                    <a:pt x="3039491" y="0"/>
                    <a:pt x="3104515" y="65024"/>
                    <a:pt x="3104515" y="145161"/>
                  </a:cubicBezTo>
                  <a:lnTo>
                    <a:pt x="3104515" y="542290"/>
                  </a:lnTo>
                  <a:cubicBezTo>
                    <a:pt x="3104515" y="622427"/>
                    <a:pt x="3039491" y="687451"/>
                    <a:pt x="2959354" y="687451"/>
                  </a:cubicBezTo>
                  <a:lnTo>
                    <a:pt x="145161" y="687451"/>
                  </a:lnTo>
                  <a:cubicBezTo>
                    <a:pt x="65024" y="687578"/>
                    <a:pt x="0" y="622554"/>
                    <a:pt x="0" y="542290"/>
                  </a:cubicBezTo>
                  <a:close/>
                </a:path>
              </a:pathLst>
            </a:custGeom>
            <a:solidFill>
              <a:srgbClr val="0A7C78"/>
            </a:solidFill>
          </p:spPr>
        </p:sp>
      </p:grpSp>
      <p:sp>
        <p:nvSpPr>
          <p:cNvPr name="TextBox 9" id="9"/>
          <p:cNvSpPr txBox="true"/>
          <p:nvPr/>
        </p:nvSpPr>
        <p:spPr>
          <a:xfrm rot="0">
            <a:off x="1233383" y="3217269"/>
            <a:ext cx="2854747"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Transaction Fee</a:t>
            </a:r>
          </a:p>
        </p:txBody>
      </p:sp>
      <p:sp>
        <p:nvSpPr>
          <p:cNvPr name="TextBox 10" id="10"/>
          <p:cNvSpPr txBox="true"/>
          <p:nvPr/>
        </p:nvSpPr>
        <p:spPr>
          <a:xfrm rot="0">
            <a:off x="1039016"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Rental Commission</a:t>
            </a:r>
          </a:p>
        </p:txBody>
      </p:sp>
      <p:sp>
        <p:nvSpPr>
          <p:cNvPr name="TextBox 11" id="11"/>
          <p:cNvSpPr txBox="true"/>
          <p:nvPr/>
        </p:nvSpPr>
        <p:spPr>
          <a:xfrm rot="0">
            <a:off x="1039016" y="4517927"/>
            <a:ext cx="3469719"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Percentage-based platform fee deducted upon successful booking settlements.</a:t>
            </a:r>
          </a:p>
        </p:txBody>
      </p:sp>
      <p:grpSp>
        <p:nvGrpSpPr>
          <p:cNvPr name="Group 12" id="12"/>
          <p:cNvGrpSpPr/>
          <p:nvPr/>
        </p:nvGrpSpPr>
        <p:grpSpPr>
          <a:xfrm rot="0">
            <a:off x="5009178" y="2838288"/>
            <a:ext cx="4032123" cy="3470853"/>
            <a:chOff x="0" y="0"/>
            <a:chExt cx="5376164" cy="4627804"/>
          </a:xfrm>
        </p:grpSpPr>
        <p:sp>
          <p:nvSpPr>
            <p:cNvPr name="Freeform 13" id="13"/>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14" id="14"/>
          <p:cNvGrpSpPr/>
          <p:nvPr/>
        </p:nvGrpSpPr>
        <p:grpSpPr>
          <a:xfrm rot="0">
            <a:off x="5290375" y="3119495"/>
            <a:ext cx="1821399" cy="515645"/>
            <a:chOff x="0" y="0"/>
            <a:chExt cx="2428532" cy="687527"/>
          </a:xfrm>
        </p:grpSpPr>
        <p:sp>
          <p:nvSpPr>
            <p:cNvPr name="Freeform 15" id="15"/>
            <p:cNvSpPr/>
            <p:nvPr/>
          </p:nvSpPr>
          <p:spPr>
            <a:xfrm flipH="false" flipV="false" rot="0">
              <a:off x="0" y="0"/>
              <a:ext cx="2428494" cy="687451"/>
            </a:xfrm>
            <a:custGeom>
              <a:avLst/>
              <a:gdLst/>
              <a:ahLst/>
              <a:cxnLst/>
              <a:rect r="r" b="b" t="t" l="l"/>
              <a:pathLst>
                <a:path h="687451" w="2428494">
                  <a:moveTo>
                    <a:pt x="0" y="145161"/>
                  </a:moveTo>
                  <a:cubicBezTo>
                    <a:pt x="0" y="65024"/>
                    <a:pt x="65024" y="0"/>
                    <a:pt x="145161" y="0"/>
                  </a:cubicBezTo>
                  <a:lnTo>
                    <a:pt x="2283333" y="0"/>
                  </a:lnTo>
                  <a:cubicBezTo>
                    <a:pt x="2363470" y="0"/>
                    <a:pt x="2428494" y="65024"/>
                    <a:pt x="2428494" y="145161"/>
                  </a:cubicBezTo>
                  <a:lnTo>
                    <a:pt x="2428494" y="542290"/>
                  </a:lnTo>
                  <a:cubicBezTo>
                    <a:pt x="2428494" y="622427"/>
                    <a:pt x="2363470" y="687451"/>
                    <a:pt x="2283333" y="687451"/>
                  </a:cubicBezTo>
                  <a:lnTo>
                    <a:pt x="145161" y="687451"/>
                  </a:lnTo>
                  <a:cubicBezTo>
                    <a:pt x="65024" y="687578"/>
                    <a:pt x="0" y="622554"/>
                    <a:pt x="0" y="542290"/>
                  </a:cubicBezTo>
                  <a:close/>
                </a:path>
              </a:pathLst>
            </a:custGeom>
            <a:solidFill>
              <a:srgbClr val="0A7C78"/>
            </a:solidFill>
          </p:spPr>
        </p:sp>
      </p:grpSp>
      <p:sp>
        <p:nvSpPr>
          <p:cNvPr name="TextBox 16" id="16"/>
          <p:cNvSpPr txBox="true"/>
          <p:nvPr/>
        </p:nvSpPr>
        <p:spPr>
          <a:xfrm rot="0">
            <a:off x="5484743" y="3217269"/>
            <a:ext cx="2347751"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Storage Cut</a:t>
            </a:r>
          </a:p>
        </p:txBody>
      </p:sp>
      <p:sp>
        <p:nvSpPr>
          <p:cNvPr name="TextBox 17" id="17"/>
          <p:cNvSpPr txBox="true"/>
          <p:nvPr/>
        </p:nvSpPr>
        <p:spPr>
          <a:xfrm rot="0">
            <a:off x="529037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Storage Fees</a:t>
            </a:r>
          </a:p>
        </p:txBody>
      </p:sp>
      <p:sp>
        <p:nvSpPr>
          <p:cNvPr name="TextBox 18" id="18"/>
          <p:cNvSpPr txBox="true"/>
          <p:nvPr/>
        </p:nvSpPr>
        <p:spPr>
          <a:xfrm rot="0">
            <a:off x="5290375" y="4517927"/>
            <a:ext cx="3469719"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Fixed platform slice per micro-storage time slot booked by users.</a:t>
            </a:r>
          </a:p>
        </p:txBody>
      </p:sp>
      <p:grpSp>
        <p:nvGrpSpPr>
          <p:cNvPr name="Group 19" id="19"/>
          <p:cNvGrpSpPr/>
          <p:nvPr/>
        </p:nvGrpSpPr>
        <p:grpSpPr>
          <a:xfrm rot="0">
            <a:off x="9260538" y="2838288"/>
            <a:ext cx="4032123" cy="3470853"/>
            <a:chOff x="0" y="0"/>
            <a:chExt cx="5376164" cy="4627804"/>
          </a:xfrm>
        </p:grpSpPr>
        <p:sp>
          <p:nvSpPr>
            <p:cNvPr name="Freeform 20" id="20"/>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21" id="21"/>
          <p:cNvGrpSpPr/>
          <p:nvPr/>
        </p:nvGrpSpPr>
        <p:grpSpPr>
          <a:xfrm rot="0">
            <a:off x="9541745" y="3119495"/>
            <a:ext cx="1584874" cy="515645"/>
            <a:chOff x="0" y="0"/>
            <a:chExt cx="2113166" cy="687527"/>
          </a:xfrm>
        </p:grpSpPr>
        <p:sp>
          <p:nvSpPr>
            <p:cNvPr name="Freeform 22" id="22"/>
            <p:cNvSpPr/>
            <p:nvPr/>
          </p:nvSpPr>
          <p:spPr>
            <a:xfrm flipH="false" flipV="false" rot="0">
              <a:off x="0" y="0"/>
              <a:ext cx="2113153" cy="687451"/>
            </a:xfrm>
            <a:custGeom>
              <a:avLst/>
              <a:gdLst/>
              <a:ahLst/>
              <a:cxnLst/>
              <a:rect r="r" b="b" t="t" l="l"/>
              <a:pathLst>
                <a:path h="687451" w="2113153">
                  <a:moveTo>
                    <a:pt x="0" y="145161"/>
                  </a:moveTo>
                  <a:cubicBezTo>
                    <a:pt x="0" y="65024"/>
                    <a:pt x="65024" y="0"/>
                    <a:pt x="145161" y="0"/>
                  </a:cubicBezTo>
                  <a:lnTo>
                    <a:pt x="1967992" y="0"/>
                  </a:lnTo>
                  <a:cubicBezTo>
                    <a:pt x="2048129" y="0"/>
                    <a:pt x="2113153" y="65024"/>
                    <a:pt x="2113153" y="145161"/>
                  </a:cubicBezTo>
                  <a:lnTo>
                    <a:pt x="2113153" y="542290"/>
                  </a:lnTo>
                  <a:cubicBezTo>
                    <a:pt x="2113153" y="622427"/>
                    <a:pt x="2048129" y="687451"/>
                    <a:pt x="1967992" y="687451"/>
                  </a:cubicBezTo>
                  <a:lnTo>
                    <a:pt x="145161" y="687451"/>
                  </a:lnTo>
                  <a:cubicBezTo>
                    <a:pt x="65024" y="687578"/>
                    <a:pt x="0" y="622554"/>
                    <a:pt x="0" y="542290"/>
                  </a:cubicBezTo>
                  <a:close/>
                </a:path>
              </a:pathLst>
            </a:custGeom>
            <a:solidFill>
              <a:srgbClr val="0A7C78"/>
            </a:solidFill>
          </p:spPr>
        </p:sp>
      </p:grpSp>
      <p:sp>
        <p:nvSpPr>
          <p:cNvPr name="TextBox 23" id="23"/>
          <p:cNvSpPr txBox="true"/>
          <p:nvPr/>
        </p:nvSpPr>
        <p:spPr>
          <a:xfrm rot="0">
            <a:off x="9736112" y="3217269"/>
            <a:ext cx="2111235"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Discovery</a:t>
            </a:r>
          </a:p>
        </p:txBody>
      </p:sp>
      <p:sp>
        <p:nvSpPr>
          <p:cNvPr name="TextBox 24" id="24"/>
          <p:cNvSpPr txBox="true"/>
          <p:nvPr/>
        </p:nvSpPr>
        <p:spPr>
          <a:xfrm rot="0">
            <a:off x="954174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Promoted Listings</a:t>
            </a:r>
          </a:p>
        </p:txBody>
      </p:sp>
      <p:sp>
        <p:nvSpPr>
          <p:cNvPr name="TextBox 25" id="25"/>
          <p:cNvSpPr txBox="true"/>
          <p:nvPr/>
        </p:nvSpPr>
        <p:spPr>
          <a:xfrm rot="0">
            <a:off x="9541745" y="4517927"/>
            <a:ext cx="3469719"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Optional paid search placement tier for owners seeking rapid bookings.</a:t>
            </a:r>
          </a:p>
        </p:txBody>
      </p:sp>
      <p:grpSp>
        <p:nvGrpSpPr>
          <p:cNvPr name="Group 26" id="26"/>
          <p:cNvGrpSpPr/>
          <p:nvPr/>
        </p:nvGrpSpPr>
        <p:grpSpPr>
          <a:xfrm rot="0">
            <a:off x="13511908" y="2838288"/>
            <a:ext cx="4032123" cy="3470853"/>
            <a:chOff x="0" y="0"/>
            <a:chExt cx="5376164" cy="4627804"/>
          </a:xfrm>
        </p:grpSpPr>
        <p:sp>
          <p:nvSpPr>
            <p:cNvPr name="Freeform 27" id="27"/>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28" id="28"/>
          <p:cNvGrpSpPr/>
          <p:nvPr/>
        </p:nvGrpSpPr>
        <p:grpSpPr>
          <a:xfrm rot="0">
            <a:off x="13793105" y="3119495"/>
            <a:ext cx="1663665" cy="515645"/>
            <a:chOff x="0" y="0"/>
            <a:chExt cx="2218220" cy="687527"/>
          </a:xfrm>
        </p:grpSpPr>
        <p:sp>
          <p:nvSpPr>
            <p:cNvPr name="Freeform 29" id="29"/>
            <p:cNvSpPr/>
            <p:nvPr/>
          </p:nvSpPr>
          <p:spPr>
            <a:xfrm flipH="false" flipV="false" rot="0">
              <a:off x="0" y="0"/>
              <a:ext cx="2218182" cy="687451"/>
            </a:xfrm>
            <a:custGeom>
              <a:avLst/>
              <a:gdLst/>
              <a:ahLst/>
              <a:cxnLst/>
              <a:rect r="r" b="b" t="t" l="l"/>
              <a:pathLst>
                <a:path h="687451" w="2218182">
                  <a:moveTo>
                    <a:pt x="0" y="145161"/>
                  </a:moveTo>
                  <a:cubicBezTo>
                    <a:pt x="0" y="65024"/>
                    <a:pt x="65024" y="0"/>
                    <a:pt x="145161" y="0"/>
                  </a:cubicBezTo>
                  <a:lnTo>
                    <a:pt x="2073021" y="0"/>
                  </a:lnTo>
                  <a:cubicBezTo>
                    <a:pt x="2153158" y="0"/>
                    <a:pt x="2218182" y="65024"/>
                    <a:pt x="2218182" y="145161"/>
                  </a:cubicBezTo>
                  <a:lnTo>
                    <a:pt x="2218182" y="542290"/>
                  </a:lnTo>
                  <a:cubicBezTo>
                    <a:pt x="2218182" y="622427"/>
                    <a:pt x="2153158" y="687451"/>
                    <a:pt x="2073021" y="687451"/>
                  </a:cubicBezTo>
                  <a:lnTo>
                    <a:pt x="145161" y="687451"/>
                  </a:lnTo>
                  <a:cubicBezTo>
                    <a:pt x="65024" y="687578"/>
                    <a:pt x="0" y="622554"/>
                    <a:pt x="0" y="542290"/>
                  </a:cubicBezTo>
                  <a:close/>
                </a:path>
              </a:pathLst>
            </a:custGeom>
            <a:solidFill>
              <a:srgbClr val="0A7C78"/>
            </a:solidFill>
          </p:spPr>
        </p:sp>
      </p:grpSp>
      <p:sp>
        <p:nvSpPr>
          <p:cNvPr name="TextBox 30" id="30"/>
          <p:cNvSpPr txBox="true"/>
          <p:nvPr/>
        </p:nvSpPr>
        <p:spPr>
          <a:xfrm rot="0">
            <a:off x="13987472" y="3217269"/>
            <a:ext cx="2190026"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Protection</a:t>
            </a:r>
          </a:p>
        </p:txBody>
      </p:sp>
      <p:sp>
        <p:nvSpPr>
          <p:cNvPr name="TextBox 31" id="31"/>
          <p:cNvSpPr txBox="true"/>
          <p:nvPr/>
        </p:nvSpPr>
        <p:spPr>
          <a:xfrm rot="0">
            <a:off x="1379310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Trust &amp; Verification</a:t>
            </a:r>
          </a:p>
        </p:txBody>
      </p:sp>
      <p:sp>
        <p:nvSpPr>
          <p:cNvPr name="TextBox 32" id="32"/>
          <p:cNvSpPr txBox="true"/>
          <p:nvPr/>
        </p:nvSpPr>
        <p:spPr>
          <a:xfrm rot="0">
            <a:off x="13793105" y="4517927"/>
            <a:ext cx="3469719"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Optional security verification charge, subject to technical and legal feasibility.</a:t>
            </a:r>
          </a:p>
        </p:txBody>
      </p:sp>
      <p:grpSp>
        <p:nvGrpSpPr>
          <p:cNvPr name="Group 33" id="33"/>
          <p:cNvGrpSpPr/>
          <p:nvPr/>
        </p:nvGrpSpPr>
        <p:grpSpPr>
          <a:xfrm rot="0">
            <a:off x="757809" y="7240191"/>
            <a:ext cx="16786222" cy="2373278"/>
            <a:chOff x="0" y="0"/>
            <a:chExt cx="22381629" cy="3164370"/>
          </a:xfrm>
        </p:grpSpPr>
        <p:sp>
          <p:nvSpPr>
            <p:cNvPr name="Freeform 34" id="34"/>
            <p:cNvSpPr/>
            <p:nvPr/>
          </p:nvSpPr>
          <p:spPr>
            <a:xfrm flipH="false" flipV="false" rot="0">
              <a:off x="0" y="0"/>
              <a:ext cx="22381590" cy="3164332"/>
            </a:xfrm>
            <a:custGeom>
              <a:avLst/>
              <a:gdLst/>
              <a:ahLst/>
              <a:cxnLst/>
              <a:rect r="r" b="b" t="t" l="l"/>
              <a:pathLst>
                <a:path h="3164332" w="22381590">
                  <a:moveTo>
                    <a:pt x="0" y="0"/>
                  </a:moveTo>
                  <a:lnTo>
                    <a:pt x="22381590" y="0"/>
                  </a:lnTo>
                  <a:lnTo>
                    <a:pt x="22381590" y="3164332"/>
                  </a:lnTo>
                  <a:lnTo>
                    <a:pt x="0" y="3164332"/>
                  </a:lnTo>
                  <a:close/>
                </a:path>
              </a:pathLst>
            </a:custGeom>
            <a:solidFill>
              <a:srgbClr val="F2F4ED"/>
            </a:solidFill>
            <a:ln w="9532" cap="sq">
              <a:solidFill>
                <a:srgbClr val="CBD4CE"/>
              </a:solidFill>
              <a:prstDash val="solid"/>
              <a:miter/>
            </a:ln>
          </p:spPr>
        </p:sp>
      </p:grpSp>
      <p:sp>
        <p:nvSpPr>
          <p:cNvPr name="TextBox 35" id="35"/>
          <p:cNvSpPr txBox="true"/>
          <p:nvPr/>
        </p:nvSpPr>
        <p:spPr>
          <a:xfrm rot="0">
            <a:off x="1115263" y="8190452"/>
            <a:ext cx="16071304" cy="1142676"/>
          </a:xfrm>
          <a:prstGeom prst="rect">
            <a:avLst/>
          </a:prstGeom>
        </p:spPr>
        <p:txBody>
          <a:bodyPr anchor="t" rtlCol="false" tIns="0" lIns="0" bIns="0" rIns="0">
            <a:spAutoFit/>
          </a:bodyPr>
          <a:lstStyle/>
          <a:p>
            <a:pPr algn="l">
              <a:lnSpc>
                <a:spcPts val="2900"/>
              </a:lnSpc>
            </a:pPr>
            <a:r>
              <a:rPr lang="en-US" sz="2101">
                <a:solidFill>
                  <a:srgbClr val="000000"/>
                </a:solidFill>
                <a:latin typeface="Inter"/>
                <a:ea typeface="Inter"/>
                <a:cs typeface="Inter"/>
                <a:sym typeface="Inter"/>
              </a:rPr>
              <a:t>Consider an item leased at a transaction value of </a:t>
            </a:r>
            <a:r>
              <a:rPr lang="en-US" sz="2101" b="true">
                <a:solidFill>
                  <a:srgbClr val="000000"/>
                </a:solidFill>
                <a:latin typeface="Inter Bold"/>
                <a:ea typeface="Inter Bold"/>
                <a:cs typeface="Inter Bold"/>
                <a:sym typeface="Inter Bold"/>
              </a:rPr>
              <a:t>₹1,000</a:t>
            </a:r>
            <a:r>
              <a:rPr lang="en-US" sz="2101">
                <a:solidFill>
                  <a:srgbClr val="000000"/>
                </a:solidFill>
                <a:latin typeface="Inter"/>
                <a:ea typeface="Inter"/>
                <a:cs typeface="Inter"/>
                <a:sym typeface="Inter"/>
              </a:rPr>
              <a:t>. Under a hypothetical </a:t>
            </a:r>
            <a:r>
              <a:rPr lang="en-US" sz="2101" b="true">
                <a:solidFill>
                  <a:srgbClr val="000000"/>
                </a:solidFill>
                <a:latin typeface="Inter Bold"/>
                <a:ea typeface="Inter Bold"/>
                <a:cs typeface="Inter Bold"/>
                <a:sym typeface="Inter Bold"/>
              </a:rPr>
              <a:t>10% platform commission</a:t>
            </a:r>
            <a:r>
              <a:rPr lang="en-US" sz="2101">
                <a:solidFill>
                  <a:srgbClr val="000000"/>
                </a:solidFill>
                <a:latin typeface="Inter"/>
                <a:ea typeface="Inter"/>
                <a:cs typeface="Inter"/>
                <a:sym typeface="Inter"/>
              </a:rPr>
              <a:t>, RentSphere retains </a:t>
            </a:r>
            <a:r>
              <a:rPr lang="en-US" sz="2101" b="true">
                <a:solidFill>
                  <a:srgbClr val="000000"/>
                </a:solidFill>
                <a:latin typeface="Inter Bold"/>
                <a:ea typeface="Inter Bold"/>
                <a:cs typeface="Inter Bold"/>
                <a:sym typeface="Inter Bold"/>
              </a:rPr>
              <a:t>₹100 gross platform margin</a:t>
            </a:r>
            <a:r>
              <a:rPr lang="en-US" sz="2101">
                <a:solidFill>
                  <a:srgbClr val="000000"/>
                </a:solidFill>
                <a:latin typeface="Inter"/>
                <a:ea typeface="Inter"/>
                <a:cs typeface="Inter"/>
                <a:sym typeface="Inter"/>
              </a:rPr>
              <a:t> prior to hosting and infrastructure expenses. </a:t>
            </a:r>
            <a:r>
              <a:rPr lang="en-US" sz="2101" i="true">
                <a:solidFill>
                  <a:srgbClr val="000000"/>
                </a:solidFill>
                <a:latin typeface="Inter Italics"/>
                <a:ea typeface="Inter Italics"/>
                <a:cs typeface="Inter Italics"/>
                <a:sym typeface="Inter Italics"/>
              </a:rPr>
              <a:t>Presented purely for conceptual mechanism demonstration; no commercial figures or market projections assumed.</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537924"/>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ARCHITECTURE</a:t>
            </a:r>
          </a:p>
        </p:txBody>
      </p:sp>
      <p:sp>
        <p:nvSpPr>
          <p:cNvPr name="TextBox 3" id="3"/>
          <p:cNvSpPr txBox="true"/>
          <p:nvPr/>
        </p:nvSpPr>
        <p:spPr>
          <a:xfrm rot="0">
            <a:off x="762581" y="1079887"/>
            <a:ext cx="5385576" cy="693417"/>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Technology stack</a:t>
            </a:r>
          </a:p>
        </p:txBody>
      </p:sp>
      <p:graphicFrame>
        <p:nvGraphicFramePr>
          <p:cNvPr name="Table 4" id="4"/>
          <p:cNvGraphicFramePr>
            <a:graphicFrameLocks noGrp="true"/>
          </p:cNvGraphicFramePr>
          <p:nvPr/>
        </p:nvGraphicFramePr>
        <p:xfrm>
          <a:off x="762576" y="3148091"/>
          <a:ext cx="10314108" cy="5503273"/>
        </p:xfrm>
        <a:graphic>
          <a:graphicData uri="http://schemas.openxmlformats.org/drawingml/2006/table">
            <a:tbl>
              <a:tblPr/>
              <a:tblGrid>
                <a:gridCol w="3314000"/>
                <a:gridCol w="7000108"/>
              </a:tblGrid>
              <a:tr h="1093450">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Presentation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F2F4ED"/>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HTML5, CSS3 and JavaScript </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F2F4ED"/>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093450">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Application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Java SE 17+ with the built-in JDK HttpServer on port 8080. REST API with JSON.</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521532">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Business Logic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Asset lifecycle management; reservation validation; rental contracts; storage-slot management</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794842">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Data Layer</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F2F4ED"/>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Zero database. In-memory ConcurrentHashMap saved to pipe-delimited flat files in data/, with an append-only audit log.</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F2F4ED"/>
                      </a:solidFill>
                      <a:prstDash val="solid"/>
                      <a:round/>
                      <a:headEnd type="none" w="med" len="med"/>
                      <a:tailEnd type="none" w="med" len="med"/>
                    </a:lnB>
                  </a:tcPr>
                </a:tc>
              </a:tr>
            </a:tbl>
          </a:graphicData>
        </a:graphic>
      </p:graphicFrame>
      <p:grpSp>
        <p:nvGrpSpPr>
          <p:cNvPr name="Group 5" id="5"/>
          <p:cNvGrpSpPr/>
          <p:nvPr/>
        </p:nvGrpSpPr>
        <p:grpSpPr>
          <a:xfrm rot="0">
            <a:off x="11536356" y="2785862"/>
            <a:ext cx="6021972" cy="6994427"/>
            <a:chOff x="0" y="0"/>
            <a:chExt cx="8029296" cy="9325902"/>
          </a:xfrm>
        </p:grpSpPr>
        <p:sp>
          <p:nvSpPr>
            <p:cNvPr name="Freeform 6" id="6"/>
            <p:cNvSpPr/>
            <p:nvPr/>
          </p:nvSpPr>
          <p:spPr>
            <a:xfrm flipH="false" flipV="false" rot="0">
              <a:off x="0" y="0"/>
              <a:ext cx="8029194" cy="9325864"/>
            </a:xfrm>
            <a:custGeom>
              <a:avLst/>
              <a:gdLst/>
              <a:ahLst/>
              <a:cxnLst/>
              <a:rect r="r" b="b" t="t" l="l"/>
              <a:pathLst>
                <a:path h="9325864" w="8029194">
                  <a:moveTo>
                    <a:pt x="0" y="182626"/>
                  </a:moveTo>
                  <a:cubicBezTo>
                    <a:pt x="0" y="81788"/>
                    <a:pt x="81788" y="0"/>
                    <a:pt x="182626" y="0"/>
                  </a:cubicBezTo>
                  <a:lnTo>
                    <a:pt x="7846568" y="0"/>
                  </a:lnTo>
                  <a:cubicBezTo>
                    <a:pt x="7947406" y="0"/>
                    <a:pt x="8029194" y="81788"/>
                    <a:pt x="8029194" y="182626"/>
                  </a:cubicBezTo>
                  <a:lnTo>
                    <a:pt x="8029194" y="9143238"/>
                  </a:lnTo>
                  <a:cubicBezTo>
                    <a:pt x="8029194" y="9244076"/>
                    <a:pt x="7947406" y="9325864"/>
                    <a:pt x="7846568" y="9325864"/>
                  </a:cubicBezTo>
                  <a:lnTo>
                    <a:pt x="182626" y="9325864"/>
                  </a:lnTo>
                  <a:cubicBezTo>
                    <a:pt x="81788" y="9325864"/>
                    <a:pt x="0" y="9244076"/>
                    <a:pt x="0" y="9143238"/>
                  </a:cubicBezTo>
                  <a:close/>
                </a:path>
              </a:pathLst>
            </a:custGeom>
            <a:solidFill>
              <a:srgbClr val="FFFFFF"/>
            </a:solidFill>
            <a:ln w="38128" cap="sq">
              <a:solidFill>
                <a:srgbClr val="CBCFC0"/>
              </a:solidFill>
              <a:prstDash val="solid"/>
              <a:miter/>
            </a:ln>
          </p:spPr>
        </p:sp>
      </p:grpSp>
      <p:grpSp>
        <p:nvGrpSpPr>
          <p:cNvPr name="Group 7" id="7"/>
          <p:cNvGrpSpPr/>
          <p:nvPr/>
        </p:nvGrpSpPr>
        <p:grpSpPr>
          <a:xfrm rot="0">
            <a:off x="11936711" y="3461023"/>
            <a:ext cx="3193733" cy="515645"/>
            <a:chOff x="0" y="0"/>
            <a:chExt cx="4258310" cy="687527"/>
          </a:xfrm>
        </p:grpSpPr>
        <p:sp>
          <p:nvSpPr>
            <p:cNvPr name="Freeform 8" id="8"/>
            <p:cNvSpPr/>
            <p:nvPr/>
          </p:nvSpPr>
          <p:spPr>
            <a:xfrm flipH="false" flipV="false" rot="0">
              <a:off x="0" y="0"/>
              <a:ext cx="4258310" cy="687578"/>
            </a:xfrm>
            <a:custGeom>
              <a:avLst/>
              <a:gdLst/>
              <a:ahLst/>
              <a:cxnLst/>
              <a:rect r="r" b="b" t="t" l="l"/>
              <a:pathLst>
                <a:path h="687578" w="4258310">
                  <a:moveTo>
                    <a:pt x="0" y="343789"/>
                  </a:moveTo>
                  <a:cubicBezTo>
                    <a:pt x="0" y="153924"/>
                    <a:pt x="153924" y="0"/>
                    <a:pt x="343789" y="0"/>
                  </a:cubicBezTo>
                  <a:lnTo>
                    <a:pt x="3914521" y="0"/>
                  </a:lnTo>
                  <a:cubicBezTo>
                    <a:pt x="4104386" y="0"/>
                    <a:pt x="4258310" y="153924"/>
                    <a:pt x="4258310" y="343789"/>
                  </a:cubicBezTo>
                  <a:cubicBezTo>
                    <a:pt x="4258310" y="533654"/>
                    <a:pt x="4104386" y="687578"/>
                    <a:pt x="3914521" y="687578"/>
                  </a:cubicBezTo>
                  <a:lnTo>
                    <a:pt x="343789" y="687578"/>
                  </a:lnTo>
                  <a:cubicBezTo>
                    <a:pt x="153924" y="687578"/>
                    <a:pt x="0" y="533654"/>
                    <a:pt x="0" y="343789"/>
                  </a:cubicBezTo>
                  <a:close/>
                </a:path>
              </a:pathLst>
            </a:custGeom>
            <a:solidFill>
              <a:srgbClr val="D2F9F4"/>
            </a:solidFill>
          </p:spPr>
        </p:sp>
      </p:grpSp>
      <p:sp>
        <p:nvSpPr>
          <p:cNvPr name="TextBox 9" id="9"/>
          <p:cNvSpPr txBox="true"/>
          <p:nvPr/>
        </p:nvSpPr>
        <p:spPr>
          <a:xfrm rot="0">
            <a:off x="12131078" y="3558797"/>
            <a:ext cx="3720094"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Tech Stack Verification</a:t>
            </a:r>
          </a:p>
        </p:txBody>
      </p:sp>
      <p:sp>
        <p:nvSpPr>
          <p:cNvPr name="TextBox 10" id="10"/>
          <p:cNvSpPr txBox="true"/>
          <p:nvPr/>
        </p:nvSpPr>
        <p:spPr>
          <a:xfrm rot="0">
            <a:off x="11936711" y="4163444"/>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Core Language:</a:t>
            </a:r>
            <a:r>
              <a:rPr lang="en-US" sz="2101">
                <a:solidFill>
                  <a:srgbClr val="10201D"/>
                </a:solidFill>
                <a:latin typeface="Inter"/>
                <a:ea typeface="Inter"/>
                <a:cs typeface="Inter"/>
                <a:sym typeface="Inter"/>
              </a:rPr>
              <a:t> Java 17+</a:t>
            </a:r>
          </a:p>
        </p:txBody>
      </p:sp>
      <p:grpSp>
        <p:nvGrpSpPr>
          <p:cNvPr name="Group 11" id="11"/>
          <p:cNvGrpSpPr/>
          <p:nvPr/>
        </p:nvGrpSpPr>
        <p:grpSpPr>
          <a:xfrm rot="0">
            <a:off x="11936711" y="5239722"/>
            <a:ext cx="5221262" cy="47511"/>
            <a:chOff x="0" y="0"/>
            <a:chExt cx="6961683" cy="63348"/>
          </a:xfrm>
        </p:grpSpPr>
        <p:sp>
          <p:nvSpPr>
            <p:cNvPr name="Freeform 12" id="12"/>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3" id="13"/>
          <p:cNvSpPr txBox="true"/>
          <p:nvPr/>
        </p:nvSpPr>
        <p:spPr>
          <a:xfrm rot="0">
            <a:off x="11936711" y="5552789"/>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Application Framework:</a:t>
            </a:r>
            <a:r>
              <a:rPr lang="en-US" sz="2101">
                <a:solidFill>
                  <a:srgbClr val="10201D"/>
                </a:solidFill>
                <a:latin typeface="Inter"/>
                <a:ea typeface="Inter"/>
                <a:cs typeface="Inter"/>
                <a:sym typeface="Inter"/>
              </a:rPr>
              <a:t> JDK HttpServer</a:t>
            </a:r>
          </a:p>
        </p:txBody>
      </p:sp>
      <p:grpSp>
        <p:nvGrpSpPr>
          <p:cNvPr name="Group 14" id="14"/>
          <p:cNvGrpSpPr/>
          <p:nvPr/>
        </p:nvGrpSpPr>
        <p:grpSpPr>
          <a:xfrm rot="0">
            <a:off x="11936711" y="6629076"/>
            <a:ext cx="5221262" cy="47511"/>
            <a:chOff x="0" y="0"/>
            <a:chExt cx="6961683" cy="63348"/>
          </a:xfrm>
        </p:grpSpPr>
        <p:sp>
          <p:nvSpPr>
            <p:cNvPr name="Freeform 15" id="15"/>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6" id="16"/>
          <p:cNvSpPr txBox="true"/>
          <p:nvPr/>
        </p:nvSpPr>
        <p:spPr>
          <a:xfrm rot="0">
            <a:off x="11936711" y="6942144"/>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UI Layer:Web UI (HTML, CSS, JS) </a:t>
            </a:r>
          </a:p>
        </p:txBody>
      </p:sp>
      <p:grpSp>
        <p:nvGrpSpPr>
          <p:cNvPr name="Group 17" id="17"/>
          <p:cNvGrpSpPr/>
          <p:nvPr/>
        </p:nvGrpSpPr>
        <p:grpSpPr>
          <a:xfrm rot="0">
            <a:off x="11936711" y="8018421"/>
            <a:ext cx="5221262" cy="47511"/>
            <a:chOff x="0" y="0"/>
            <a:chExt cx="6961683" cy="63348"/>
          </a:xfrm>
        </p:grpSpPr>
        <p:sp>
          <p:nvSpPr>
            <p:cNvPr name="Freeform 18" id="18"/>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9" id="19"/>
          <p:cNvSpPr txBox="true"/>
          <p:nvPr/>
        </p:nvSpPr>
        <p:spPr>
          <a:xfrm rot="0">
            <a:off x="11936711" y="8331498"/>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Database:</a:t>
            </a:r>
            <a:r>
              <a:rPr lang="en-US" sz="2101">
                <a:solidFill>
                  <a:srgbClr val="10201D"/>
                </a:solidFill>
                <a:latin typeface="Inter"/>
                <a:ea typeface="Inter"/>
                <a:cs typeface="Inter"/>
                <a:sym typeface="Inter"/>
              </a:rPr>
              <a:t> Flat files, no H2 and no SQL</a:t>
            </a:r>
          </a:p>
        </p:txBody>
      </p:sp>
      <p:sp>
        <p:nvSpPr>
          <p:cNvPr name="AutoShape 20" id="20"/>
          <p:cNvSpPr/>
          <p:nvPr/>
        </p:nvSpPr>
        <p:spPr>
          <a:xfrm>
            <a:off x="-811816" y="2219132"/>
            <a:ext cx="20089024" cy="0"/>
          </a:xfrm>
          <a:prstGeom prst="line">
            <a:avLst/>
          </a:prstGeom>
          <a:ln cap="flat" w="38100">
            <a:solidFill>
              <a:srgbClr val="F26A3D"/>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834066" y="2696026"/>
            <a:ext cx="16812102" cy="6024635"/>
            <a:chOff x="0" y="0"/>
            <a:chExt cx="22416136" cy="8032847"/>
          </a:xfrm>
        </p:grpSpPr>
        <p:sp>
          <p:nvSpPr>
            <p:cNvPr name="Freeform 3" id="3"/>
            <p:cNvSpPr/>
            <p:nvPr/>
          </p:nvSpPr>
          <p:spPr>
            <a:xfrm flipH="false" flipV="false" rot="0">
              <a:off x="0" y="0"/>
              <a:ext cx="22415933" cy="8032797"/>
            </a:xfrm>
            <a:custGeom>
              <a:avLst/>
              <a:gdLst/>
              <a:ahLst/>
              <a:cxnLst/>
              <a:rect r="r" b="b" t="t" l="l"/>
              <a:pathLst>
                <a:path h="8032797" w="22415933">
                  <a:moveTo>
                    <a:pt x="0" y="0"/>
                  </a:moveTo>
                  <a:lnTo>
                    <a:pt x="22415933" y="0"/>
                  </a:lnTo>
                  <a:lnTo>
                    <a:pt x="22415933" y="8032797"/>
                  </a:lnTo>
                  <a:lnTo>
                    <a:pt x="0" y="8032797"/>
                  </a:lnTo>
                  <a:close/>
                </a:path>
              </a:pathLst>
            </a:custGeom>
            <a:blipFill>
              <a:blip r:embed="rId3"/>
              <a:stretch>
                <a:fillRect l="0" t="-28961" r="0" b="-64826"/>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143867" y="2014728"/>
            <a:ext cx="9385119" cy="882745"/>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RentSphere Marketplace and Equipment Listing interface.</a:t>
            </a:r>
          </a:p>
          <a:p>
            <a:pPr algn="l">
              <a:lnSpc>
                <a:spcPts val="356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1059857" y="3230515"/>
            <a:ext cx="17020973" cy="7056485"/>
            <a:chOff x="0" y="0"/>
            <a:chExt cx="22694631" cy="9408647"/>
          </a:xfrm>
        </p:grpSpPr>
        <p:sp>
          <p:nvSpPr>
            <p:cNvPr name="Freeform 3" id="3"/>
            <p:cNvSpPr/>
            <p:nvPr/>
          </p:nvSpPr>
          <p:spPr>
            <a:xfrm flipH="false" flipV="false" rot="0">
              <a:off x="0" y="0"/>
              <a:ext cx="22694424" cy="9408589"/>
            </a:xfrm>
            <a:custGeom>
              <a:avLst/>
              <a:gdLst/>
              <a:ahLst/>
              <a:cxnLst/>
              <a:rect r="r" b="b" t="t" l="l"/>
              <a:pathLst>
                <a:path h="9408589" w="22694424">
                  <a:moveTo>
                    <a:pt x="0" y="0"/>
                  </a:moveTo>
                  <a:lnTo>
                    <a:pt x="22694424" y="0"/>
                  </a:lnTo>
                  <a:lnTo>
                    <a:pt x="22694424" y="9408589"/>
                  </a:lnTo>
                  <a:lnTo>
                    <a:pt x="0" y="9408589"/>
                  </a:lnTo>
                  <a:close/>
                </a:path>
              </a:pathLst>
            </a:custGeom>
            <a:blipFill>
              <a:blip r:embed="rId3"/>
              <a:stretch>
                <a:fillRect l="0" t="-57049" r="0" b="-10456"/>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028700" y="2595420"/>
            <a:ext cx="10246714" cy="435070"/>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RentSphere 8×8 Smart Pickup Hub and Parking Matrix.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914501" y="3187654"/>
            <a:ext cx="17020973" cy="7099346"/>
            <a:chOff x="0" y="0"/>
            <a:chExt cx="22694631" cy="9465794"/>
          </a:xfrm>
        </p:grpSpPr>
        <p:sp>
          <p:nvSpPr>
            <p:cNvPr name="Freeform 3" id="3"/>
            <p:cNvSpPr/>
            <p:nvPr/>
          </p:nvSpPr>
          <p:spPr>
            <a:xfrm flipH="false" flipV="false" rot="0">
              <a:off x="0" y="0"/>
              <a:ext cx="22694424" cy="9465735"/>
            </a:xfrm>
            <a:custGeom>
              <a:avLst/>
              <a:gdLst/>
              <a:ahLst/>
              <a:cxnLst/>
              <a:rect r="r" b="b" t="t" l="l"/>
              <a:pathLst>
                <a:path h="9465735" w="22694424">
                  <a:moveTo>
                    <a:pt x="0" y="0"/>
                  </a:moveTo>
                  <a:lnTo>
                    <a:pt x="22694424" y="0"/>
                  </a:lnTo>
                  <a:lnTo>
                    <a:pt x="22694424" y="9465735"/>
                  </a:lnTo>
                  <a:lnTo>
                    <a:pt x="0" y="9465735"/>
                  </a:lnTo>
                  <a:close/>
                </a:path>
              </a:pathLst>
            </a:custGeom>
            <a:blipFill>
              <a:blip r:embed="rId3"/>
              <a:stretch>
                <a:fillRect l="0" t="-44429" r="0" b="-22066"/>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028700" y="2595420"/>
            <a:ext cx="12361537" cy="435070"/>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 RentSphere Post-Return Inspection, Escrow and Audit Ledger interface.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2848"/>
            <a:ext cx="10218525" cy="231315"/>
          </a:xfrm>
          <a:prstGeom prst="rect">
            <a:avLst/>
          </a:prstGeom>
        </p:spPr>
        <p:txBody>
          <a:bodyPr anchor="t" rtlCol="false" tIns="0" lIns="0" bIns="0" rIns="0">
            <a:spAutoFit/>
          </a:bodyPr>
          <a:lstStyle/>
          <a:p>
            <a:pPr algn="l">
              <a:lnSpc>
                <a:spcPts val="1855"/>
              </a:lnSpc>
            </a:pPr>
            <a:r>
              <a:rPr lang="en-US" sz="1501" spc="81">
                <a:solidFill>
                  <a:srgbClr val="0A7C78"/>
                </a:solidFill>
                <a:latin typeface="IBM Plex Sans"/>
                <a:ea typeface="IBM Plex Sans"/>
                <a:cs typeface="IBM Plex Sans"/>
                <a:sym typeface="IBM Plex Sans"/>
              </a:rPr>
              <a:t>CONCLUSION &amp; FUTURE SCOPE</a:t>
            </a:r>
          </a:p>
        </p:txBody>
      </p:sp>
      <p:sp>
        <p:nvSpPr>
          <p:cNvPr name="TextBox 3" id="3"/>
          <p:cNvSpPr txBox="true"/>
          <p:nvPr/>
        </p:nvSpPr>
        <p:spPr>
          <a:xfrm rot="0">
            <a:off x="762581" y="1147858"/>
            <a:ext cx="9455953" cy="1165384"/>
          </a:xfrm>
          <a:prstGeom prst="rect">
            <a:avLst/>
          </a:prstGeom>
        </p:spPr>
        <p:txBody>
          <a:bodyPr anchor="t" rtlCol="false" tIns="0" lIns="0" bIns="0" rIns="0">
            <a:spAutoFit/>
          </a:bodyPr>
          <a:lstStyle/>
          <a:p>
            <a:pPr algn="l">
              <a:lnSpc>
                <a:spcPts val="4755"/>
              </a:lnSpc>
            </a:pPr>
            <a:r>
              <a:rPr lang="en-US" b="true" sz="4503" spc="-90">
                <a:solidFill>
                  <a:srgbClr val="0D9488"/>
                </a:solidFill>
                <a:latin typeface="Inter Bold"/>
                <a:ea typeface="Inter Bold"/>
                <a:cs typeface="Inter Bold"/>
                <a:sym typeface="Inter Bold"/>
              </a:rPr>
              <a:t>From Asset Sharing to Structured Rental Management</a:t>
            </a:r>
          </a:p>
        </p:txBody>
      </p:sp>
      <p:sp>
        <p:nvSpPr>
          <p:cNvPr name="TextBox 4" id="4"/>
          <p:cNvSpPr txBox="true"/>
          <p:nvPr/>
        </p:nvSpPr>
        <p:spPr>
          <a:xfrm rot="0">
            <a:off x="762581" y="2533869"/>
            <a:ext cx="9455953" cy="740640"/>
          </a:xfrm>
          <a:prstGeom prst="rect">
            <a:avLst/>
          </a:prstGeom>
        </p:spPr>
        <p:txBody>
          <a:bodyPr anchor="t" rtlCol="false" tIns="0" lIns="0" bIns="0" rIns="0">
            <a:spAutoFit/>
          </a:bodyPr>
          <a:lstStyle/>
          <a:p>
            <a:pPr algn="l">
              <a:lnSpc>
                <a:spcPts val="2945"/>
              </a:lnSpc>
            </a:pPr>
            <a:r>
              <a:rPr lang="en-US" sz="2251">
                <a:solidFill>
                  <a:srgbClr val="10201D"/>
                </a:solidFill>
                <a:latin typeface="Inter"/>
                <a:ea typeface="Inter"/>
                <a:cs typeface="Inter"/>
                <a:sym typeface="Inter"/>
              </a:rPr>
              <a:t>RentSphere implements</a:t>
            </a:r>
            <a:r>
              <a:rPr lang="en-US" sz="2251">
                <a:solidFill>
                  <a:srgbClr val="10201D"/>
                </a:solidFill>
                <a:latin typeface="Inter"/>
                <a:ea typeface="Inter"/>
                <a:cs typeface="Inter"/>
                <a:sym typeface="Inter"/>
              </a:rPr>
              <a:t> a asset rental and micro-storage platform. Java OOP structures users, assets, contracts and rental operations.</a:t>
            </a:r>
          </a:p>
        </p:txBody>
      </p:sp>
      <p:sp>
        <p:nvSpPr>
          <p:cNvPr name="TextBox 5" id="5"/>
          <p:cNvSpPr txBox="true"/>
          <p:nvPr/>
        </p:nvSpPr>
        <p:spPr>
          <a:xfrm rot="0">
            <a:off x="762581" y="4991681"/>
            <a:ext cx="10218525" cy="231315"/>
          </a:xfrm>
          <a:prstGeom prst="rect">
            <a:avLst/>
          </a:prstGeom>
        </p:spPr>
        <p:txBody>
          <a:bodyPr anchor="t" rtlCol="false" tIns="0" lIns="0" bIns="0" rIns="0">
            <a:spAutoFit/>
          </a:bodyPr>
          <a:lstStyle/>
          <a:p>
            <a:pPr algn="l">
              <a:lnSpc>
                <a:spcPts val="1855"/>
              </a:lnSpc>
            </a:pPr>
            <a:r>
              <a:rPr lang="en-US" sz="1501" spc="81">
                <a:solidFill>
                  <a:srgbClr val="0A7C78"/>
                </a:solidFill>
                <a:latin typeface="IBM Plex Sans"/>
                <a:ea typeface="IBM Plex Sans"/>
                <a:cs typeface="IBM Plex Sans"/>
                <a:sym typeface="IBM Plex Sans"/>
              </a:rPr>
              <a:t>FUTURE SCOPE</a:t>
            </a:r>
          </a:p>
        </p:txBody>
      </p:sp>
      <p:sp>
        <p:nvSpPr>
          <p:cNvPr name="TextBox 6" id="6"/>
          <p:cNvSpPr txBox="true"/>
          <p:nvPr/>
        </p:nvSpPr>
        <p:spPr>
          <a:xfrm rot="0">
            <a:off x="762581" y="5459435"/>
            <a:ext cx="9455953" cy="1855065"/>
          </a:xfrm>
          <a:prstGeom prst="rect">
            <a:avLst/>
          </a:prstGeom>
        </p:spPr>
        <p:txBody>
          <a:bodyPr anchor="t" rtlCol="false" tIns="0" lIns="0" bIns="0" rIns="0">
            <a:spAutoFit/>
          </a:bodyPr>
          <a:lstStyle/>
          <a:p>
            <a:pPr algn="l" marL="407799" indent="-203899" lvl="1">
              <a:lnSpc>
                <a:spcPts val="2945"/>
              </a:lnSpc>
              <a:buFont typeface="Arial"/>
              <a:buChar char="•"/>
            </a:pPr>
            <a:r>
              <a:rPr lang="en-US" sz="2251">
                <a:solidFill>
                  <a:srgbClr val="10201D"/>
                </a:solidFill>
                <a:latin typeface="Inter"/>
                <a:ea typeface="Inter"/>
                <a:cs typeface="Inter"/>
                <a:sym typeface="Inter"/>
              </a:rPr>
              <a:t>Real payment gateway </a:t>
            </a:r>
          </a:p>
          <a:p>
            <a:pPr algn="l" marL="407799" indent="-203899" lvl="1">
              <a:lnSpc>
                <a:spcPts val="2945"/>
              </a:lnSpc>
              <a:buFont typeface="Arial"/>
              <a:buChar char="•"/>
            </a:pPr>
            <a:r>
              <a:rPr lang="en-US" sz="2251">
                <a:solidFill>
                  <a:srgbClr val="10201D"/>
                </a:solidFill>
                <a:latin typeface="Inter"/>
                <a:ea typeface="Inter"/>
                <a:cs typeface="Inter"/>
                <a:sym typeface="Inter"/>
              </a:rPr>
              <a:t>SQL database for scale</a:t>
            </a:r>
          </a:p>
          <a:p>
            <a:pPr algn="l" marL="407799" indent="-203899" lvl="1">
              <a:lnSpc>
                <a:spcPts val="2945"/>
              </a:lnSpc>
              <a:buFont typeface="Arial"/>
              <a:buChar char="•"/>
            </a:pPr>
            <a:r>
              <a:rPr lang="en-US" sz="2251">
                <a:solidFill>
                  <a:srgbClr val="10201D"/>
                </a:solidFill>
                <a:latin typeface="Inter"/>
                <a:ea typeface="Inter"/>
                <a:cs typeface="Inter"/>
                <a:sym typeface="Inter"/>
              </a:rPr>
              <a:t>Native mobile app</a:t>
            </a:r>
          </a:p>
          <a:p>
            <a:pPr algn="l" marL="407799" indent="-203899" lvl="1">
              <a:lnSpc>
                <a:spcPts val="2945"/>
              </a:lnSpc>
              <a:buFont typeface="Arial"/>
              <a:buChar char="•"/>
            </a:pPr>
            <a:r>
              <a:rPr lang="en-US" sz="2251">
                <a:solidFill>
                  <a:srgbClr val="10201D"/>
                </a:solidFill>
                <a:latin typeface="Inter"/>
                <a:ea typeface="Inter"/>
                <a:cs typeface="Inter"/>
                <a:sym typeface="Inter"/>
              </a:rPr>
              <a:t>Multi-hub network</a:t>
            </a:r>
          </a:p>
          <a:p>
            <a:pPr algn="l" marL="407830" indent="-203915" lvl="1">
              <a:lnSpc>
                <a:spcPts val="2945"/>
              </a:lnSpc>
              <a:buFont typeface="Arial"/>
              <a:buChar char="•"/>
            </a:pPr>
            <a:r>
              <a:rPr lang="en-US" sz="2251">
                <a:solidFill>
                  <a:srgbClr val="10201D"/>
                </a:solidFill>
                <a:latin typeface="Inter"/>
                <a:ea typeface="Inter"/>
                <a:cs typeface="Inter"/>
                <a:sym typeface="Inter"/>
              </a:rPr>
              <a:t>Aadhaar / DigiLocker KYC</a:t>
            </a:r>
          </a:p>
        </p:txBody>
      </p:sp>
      <p:grpSp>
        <p:nvGrpSpPr>
          <p:cNvPr name="Group 7" id="7"/>
          <p:cNvGrpSpPr/>
          <p:nvPr/>
        </p:nvGrpSpPr>
        <p:grpSpPr>
          <a:xfrm rot="0">
            <a:off x="762581" y="8843277"/>
            <a:ext cx="4499200" cy="1455782"/>
            <a:chOff x="0" y="0"/>
            <a:chExt cx="5998934" cy="1941043"/>
          </a:xfrm>
        </p:grpSpPr>
        <p:sp>
          <p:nvSpPr>
            <p:cNvPr name="Freeform 8" id="8"/>
            <p:cNvSpPr/>
            <p:nvPr/>
          </p:nvSpPr>
          <p:spPr>
            <a:xfrm flipH="false" flipV="false" rot="0">
              <a:off x="0" y="0"/>
              <a:ext cx="5998972" cy="1941068"/>
            </a:xfrm>
            <a:custGeom>
              <a:avLst/>
              <a:gdLst/>
              <a:ahLst/>
              <a:cxnLst/>
              <a:rect r="r" b="b" t="t" l="l"/>
              <a:pathLst>
                <a:path h="1941068" w="5998972">
                  <a:moveTo>
                    <a:pt x="0" y="0"/>
                  </a:moveTo>
                  <a:lnTo>
                    <a:pt x="5998972" y="0"/>
                  </a:lnTo>
                  <a:lnTo>
                    <a:pt x="5998972" y="1941068"/>
                  </a:lnTo>
                  <a:lnTo>
                    <a:pt x="0" y="1941068"/>
                  </a:lnTo>
                  <a:close/>
                </a:path>
              </a:pathLst>
            </a:custGeom>
            <a:solidFill>
              <a:srgbClr val="F2F4ED"/>
            </a:solidFill>
          </p:spPr>
        </p:sp>
      </p:grpSp>
      <p:grpSp>
        <p:nvGrpSpPr>
          <p:cNvPr name="Group 9" id="9"/>
          <p:cNvGrpSpPr/>
          <p:nvPr/>
        </p:nvGrpSpPr>
        <p:grpSpPr>
          <a:xfrm rot="0">
            <a:off x="11667420" y="686333"/>
            <a:ext cx="5948096" cy="8922372"/>
            <a:chOff x="0" y="0"/>
            <a:chExt cx="7930794" cy="11896496"/>
          </a:xfrm>
        </p:grpSpPr>
        <p:sp>
          <p:nvSpPr>
            <p:cNvPr name="Freeform 10" id="10" descr="preencoded.png"/>
            <p:cNvSpPr/>
            <p:nvPr/>
          </p:nvSpPr>
          <p:spPr>
            <a:xfrm flipH="false" flipV="false" rot="0">
              <a:off x="0" y="0"/>
              <a:ext cx="7930769" cy="11896471"/>
            </a:xfrm>
            <a:custGeom>
              <a:avLst/>
              <a:gdLst/>
              <a:ahLst/>
              <a:cxnLst/>
              <a:rect r="r" b="b" t="t" l="l"/>
              <a:pathLst>
                <a:path h="11896471" w="7930769">
                  <a:moveTo>
                    <a:pt x="0" y="0"/>
                  </a:moveTo>
                  <a:lnTo>
                    <a:pt x="7930769" y="0"/>
                  </a:lnTo>
                  <a:lnTo>
                    <a:pt x="7930769" y="11896471"/>
                  </a:lnTo>
                  <a:lnTo>
                    <a:pt x="0" y="11896471"/>
                  </a:lnTo>
                  <a:lnTo>
                    <a:pt x="0" y="0"/>
                  </a:lnTo>
                  <a:close/>
                </a:path>
              </a:pathLst>
            </a:custGeom>
            <a:blipFill>
              <a:blip r:embed="rId3"/>
              <a:stretch>
                <a:fillRect l="-1" t="0" r="-1"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5624662" y="3600450"/>
            <a:ext cx="7138217" cy="3086100"/>
            <a:chOff x="0" y="0"/>
            <a:chExt cx="1880024" cy="812800"/>
          </a:xfrm>
        </p:grpSpPr>
        <p:sp>
          <p:nvSpPr>
            <p:cNvPr name="Freeform 3" id="3"/>
            <p:cNvSpPr/>
            <p:nvPr/>
          </p:nvSpPr>
          <p:spPr>
            <a:xfrm flipH="false" flipV="false" rot="0">
              <a:off x="0" y="0"/>
              <a:ext cx="1880024" cy="812800"/>
            </a:xfrm>
            <a:custGeom>
              <a:avLst/>
              <a:gdLst/>
              <a:ahLst/>
              <a:cxnLst/>
              <a:rect r="r" b="b" t="t" l="l"/>
              <a:pathLst>
                <a:path h="812800" w="1880024">
                  <a:moveTo>
                    <a:pt x="55313" y="0"/>
                  </a:moveTo>
                  <a:lnTo>
                    <a:pt x="1824711" y="0"/>
                  </a:lnTo>
                  <a:cubicBezTo>
                    <a:pt x="1839381" y="0"/>
                    <a:pt x="1853450" y="5828"/>
                    <a:pt x="1863823" y="16201"/>
                  </a:cubicBezTo>
                  <a:cubicBezTo>
                    <a:pt x="1874197" y="26574"/>
                    <a:pt x="1880024" y="40643"/>
                    <a:pt x="1880024" y="55313"/>
                  </a:cubicBezTo>
                  <a:lnTo>
                    <a:pt x="1880024" y="757487"/>
                  </a:lnTo>
                  <a:cubicBezTo>
                    <a:pt x="1880024" y="772157"/>
                    <a:pt x="1874197" y="786226"/>
                    <a:pt x="1863823" y="796599"/>
                  </a:cubicBezTo>
                  <a:cubicBezTo>
                    <a:pt x="1853450" y="806972"/>
                    <a:pt x="1839381" y="812800"/>
                    <a:pt x="1824711" y="812800"/>
                  </a:cubicBezTo>
                  <a:lnTo>
                    <a:pt x="55313" y="812800"/>
                  </a:lnTo>
                  <a:cubicBezTo>
                    <a:pt x="40643" y="812800"/>
                    <a:pt x="26574" y="806972"/>
                    <a:pt x="16201" y="796599"/>
                  </a:cubicBezTo>
                  <a:cubicBezTo>
                    <a:pt x="5828" y="786226"/>
                    <a:pt x="0" y="772157"/>
                    <a:pt x="0" y="757487"/>
                  </a:cubicBezTo>
                  <a:lnTo>
                    <a:pt x="0" y="55313"/>
                  </a:lnTo>
                  <a:cubicBezTo>
                    <a:pt x="0" y="40643"/>
                    <a:pt x="5828" y="26574"/>
                    <a:pt x="16201" y="16201"/>
                  </a:cubicBezTo>
                  <a:cubicBezTo>
                    <a:pt x="26574" y="5828"/>
                    <a:pt x="40643" y="0"/>
                    <a:pt x="55313" y="0"/>
                  </a:cubicBezTo>
                  <a:close/>
                </a:path>
              </a:pathLst>
            </a:custGeom>
            <a:solidFill>
              <a:srgbClr val="0A7C78"/>
            </a:solidFill>
          </p:spPr>
        </p:sp>
        <p:sp>
          <p:nvSpPr>
            <p:cNvPr name="TextBox 4" id="4"/>
            <p:cNvSpPr txBox="true"/>
            <p:nvPr/>
          </p:nvSpPr>
          <p:spPr>
            <a:xfrm>
              <a:off x="0" y="-9525"/>
              <a:ext cx="1880024" cy="822325"/>
            </a:xfrm>
            <a:prstGeom prst="rect">
              <a:avLst/>
            </a:prstGeom>
          </p:spPr>
          <p:txBody>
            <a:bodyPr anchor="ctr" rtlCol="false" tIns="50800" lIns="50800" bIns="50800" rIns="50800"/>
            <a:lstStyle/>
            <a:p>
              <a:pPr algn="ctr">
                <a:lnSpc>
                  <a:spcPts val="2040"/>
                </a:lnSpc>
              </a:pPr>
            </a:p>
          </p:txBody>
        </p:sp>
      </p:grpSp>
      <p:sp>
        <p:nvSpPr>
          <p:cNvPr name="TextBox 5" id="5"/>
          <p:cNvSpPr txBox="true"/>
          <p:nvPr/>
        </p:nvSpPr>
        <p:spPr>
          <a:xfrm rot="0">
            <a:off x="6076679" y="4274503"/>
            <a:ext cx="6134641" cy="1566544"/>
          </a:xfrm>
          <a:prstGeom prst="rect">
            <a:avLst/>
          </a:prstGeom>
        </p:spPr>
        <p:txBody>
          <a:bodyPr anchor="t" rtlCol="false" tIns="0" lIns="0" bIns="0" rIns="0">
            <a:spAutoFit/>
          </a:bodyPr>
          <a:lstStyle/>
          <a:p>
            <a:pPr algn="ctr">
              <a:lnSpc>
                <a:spcPts val="12880"/>
              </a:lnSpc>
            </a:pPr>
            <a:r>
              <a:rPr lang="en-US" b="true" sz="9200">
                <a:solidFill>
                  <a:srgbClr val="FFFFFF"/>
                </a:solidFill>
                <a:latin typeface="Canva Sans Bold"/>
                <a:ea typeface="Canva Sans Bold"/>
                <a:cs typeface="Canva Sans Bold"/>
                <a:sym typeface="Canva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DAHZHRiW2_Q</dc:identifier>
  <dcterms:modified xsi:type="dcterms:W3CDTF">2011-08-01T06:04:30Z</dcterms:modified>
  <cp:revision>1</cp:revision>
  <dc:title>RentSphere.pptx</dc:title>
</cp:coreProperties>
</file>